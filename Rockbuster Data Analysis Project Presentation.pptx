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6" r:id="rId8"/>
    <p:sldId id="262" r:id="rId9"/>
    <p:sldId id="263" r:id="rId10"/>
    <p:sldId id="264" r:id="rId11"/>
    <p:sldId id="265"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95" d="100"/>
          <a:sy n="95" d="100"/>
        </p:scale>
        <p:origin x="67"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oluwo\Downloads\career%20foundry%20tasks\exercise%203.1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oluwo\Downloads\career%20foundry%20tasks\exercise%203.1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oluwo\Downloads\career%20foundry%20tasks\exercise%203.1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oluwo\Downloads\career%20foundry%20tasks\exercise%203.1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oluwo\Downloads\career%20foundry%20tasks\exercise%203.10.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695203095869676E-2"/>
          <c:y val="1.4405793791145212E-2"/>
          <c:w val="0.89408696166754797"/>
          <c:h val="0.84969153159062216"/>
        </c:manualLayout>
      </c:layout>
      <c:barChart>
        <c:barDir val="col"/>
        <c:grouping val="clustered"/>
        <c:varyColors val="0"/>
        <c:ser>
          <c:idx val="0"/>
          <c:order val="0"/>
          <c:tx>
            <c:strRef>
              <c:f>'Revenue gain'!$G$3</c:f>
              <c:strCache>
                <c:ptCount val="1"/>
                <c:pt idx="0">
                  <c:v>total_revenue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gain'!$F$4:$F$13</c:f>
              <c:strCache>
                <c:ptCount val="10"/>
                <c:pt idx="0">
                  <c:v>Telegraph Voyage</c:v>
                </c:pt>
                <c:pt idx="1">
                  <c:v>Zorro Ark</c:v>
                </c:pt>
                <c:pt idx="2">
                  <c:v>Wife Turn</c:v>
                </c:pt>
                <c:pt idx="3">
                  <c:v>Innocent Usual</c:v>
                </c:pt>
                <c:pt idx="4">
                  <c:v>Hustler Party</c:v>
                </c:pt>
                <c:pt idx="5">
                  <c:v>Saturday Lambs</c:v>
                </c:pt>
                <c:pt idx="6">
                  <c:v>Titans Jerk</c:v>
                </c:pt>
                <c:pt idx="7">
                  <c:v>Harry Idaho</c:v>
                </c:pt>
                <c:pt idx="8">
                  <c:v>Torque Bound</c:v>
                </c:pt>
                <c:pt idx="9">
                  <c:v>Dogma Family</c:v>
                </c:pt>
              </c:strCache>
            </c:strRef>
          </c:cat>
          <c:val>
            <c:numRef>
              <c:f>'Revenue gain'!$G$4:$G$13</c:f>
              <c:numCache>
                <c:formatCode>General</c:formatCode>
                <c:ptCount val="10"/>
                <c:pt idx="0">
                  <c:v>215.75</c:v>
                </c:pt>
                <c:pt idx="1">
                  <c:v>199.72</c:v>
                </c:pt>
                <c:pt idx="2">
                  <c:v>198.73</c:v>
                </c:pt>
                <c:pt idx="3">
                  <c:v>191.74</c:v>
                </c:pt>
                <c:pt idx="4">
                  <c:v>190.78</c:v>
                </c:pt>
                <c:pt idx="5">
                  <c:v>190.74</c:v>
                </c:pt>
                <c:pt idx="6">
                  <c:v>186.73</c:v>
                </c:pt>
                <c:pt idx="7">
                  <c:v>177.73</c:v>
                </c:pt>
                <c:pt idx="8">
                  <c:v>169.76</c:v>
                </c:pt>
                <c:pt idx="9">
                  <c:v>168.72</c:v>
                </c:pt>
              </c:numCache>
            </c:numRef>
          </c:val>
          <c:extLst>
            <c:ext xmlns:c16="http://schemas.microsoft.com/office/drawing/2014/chart" uri="{C3380CC4-5D6E-409C-BE32-E72D297353CC}">
              <c16:uniqueId val="{00000000-5F08-4B35-9169-D854480402F8}"/>
            </c:ext>
          </c:extLst>
        </c:ser>
        <c:dLbls>
          <c:showLegendKey val="0"/>
          <c:showVal val="0"/>
          <c:showCatName val="0"/>
          <c:showSerName val="0"/>
          <c:showPercent val="0"/>
          <c:showBubbleSize val="0"/>
        </c:dLbls>
        <c:gapWidth val="219"/>
        <c:overlap val="-27"/>
        <c:axId val="1281252543"/>
        <c:axId val="1281248703"/>
      </c:barChart>
      <c:catAx>
        <c:axId val="12812525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Movies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1248703"/>
        <c:crosses val="autoZero"/>
        <c:auto val="1"/>
        <c:lblAlgn val="ctr"/>
        <c:lblOffset val="100"/>
        <c:noMultiLvlLbl val="0"/>
      </c:catAx>
      <c:valAx>
        <c:axId val="12812487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Total_revenue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12525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'Revenue gain'!$G$23</c:f>
              <c:strCache>
                <c:ptCount val="1"/>
                <c:pt idx="0">
                  <c:v>total_revenue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gain'!$F$24:$F$33</c:f>
              <c:strCache>
                <c:ptCount val="10"/>
                <c:pt idx="0">
                  <c:v>Texas Watch</c:v>
                </c:pt>
                <c:pt idx="1">
                  <c:v>Oklahoma Jumanji</c:v>
                </c:pt>
                <c:pt idx="2">
                  <c:v>Duffel Apocalypse</c:v>
                </c:pt>
                <c:pt idx="3">
                  <c:v>Freedom Cleopatra</c:v>
                </c:pt>
                <c:pt idx="4">
                  <c:v>Young Language</c:v>
                </c:pt>
                <c:pt idx="5">
                  <c:v>Rebel Airport</c:v>
                </c:pt>
                <c:pt idx="6">
                  <c:v>Cruelty Unforgiven</c:v>
                </c:pt>
                <c:pt idx="7">
                  <c:v>Treatment Jekyll</c:v>
                </c:pt>
                <c:pt idx="8">
                  <c:v>Lights Deer</c:v>
                </c:pt>
                <c:pt idx="9">
                  <c:v>Stallion Sundance</c:v>
                </c:pt>
              </c:strCache>
            </c:strRef>
          </c:cat>
          <c:val>
            <c:numRef>
              <c:f>'Revenue gain'!$G$24:$G$33</c:f>
              <c:numCache>
                <c:formatCode>General</c:formatCode>
                <c:ptCount val="10"/>
                <c:pt idx="0">
                  <c:v>5.94</c:v>
                </c:pt>
                <c:pt idx="1">
                  <c:v>5.94</c:v>
                </c:pt>
                <c:pt idx="2">
                  <c:v>5.94</c:v>
                </c:pt>
                <c:pt idx="3">
                  <c:v>5.95</c:v>
                </c:pt>
                <c:pt idx="4">
                  <c:v>6.93</c:v>
                </c:pt>
                <c:pt idx="5">
                  <c:v>6.93</c:v>
                </c:pt>
                <c:pt idx="6">
                  <c:v>6.94</c:v>
                </c:pt>
                <c:pt idx="7">
                  <c:v>6.94</c:v>
                </c:pt>
                <c:pt idx="8">
                  <c:v>7.93</c:v>
                </c:pt>
                <c:pt idx="9">
                  <c:v>7.94</c:v>
                </c:pt>
              </c:numCache>
            </c:numRef>
          </c:val>
          <c:extLst>
            <c:ext xmlns:c16="http://schemas.microsoft.com/office/drawing/2014/chart" uri="{C3380CC4-5D6E-409C-BE32-E72D297353CC}">
              <c16:uniqueId val="{00000000-2812-467B-9B77-7D46198B573F}"/>
            </c:ext>
          </c:extLst>
        </c:ser>
        <c:dLbls>
          <c:dLblPos val="outEnd"/>
          <c:showLegendKey val="0"/>
          <c:showVal val="1"/>
          <c:showCatName val="0"/>
          <c:showSerName val="0"/>
          <c:showPercent val="0"/>
          <c:showBubbleSize val="0"/>
        </c:dLbls>
        <c:gapWidth val="219"/>
        <c:overlap val="-27"/>
        <c:axId val="1555223472"/>
        <c:axId val="1555219152"/>
      </c:barChart>
      <c:catAx>
        <c:axId val="155522347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Movies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5219152"/>
        <c:crosses val="autoZero"/>
        <c:auto val="1"/>
        <c:lblAlgn val="ctr"/>
        <c:lblOffset val="100"/>
        <c:noMultiLvlLbl val="0"/>
      </c:catAx>
      <c:valAx>
        <c:axId val="15552191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Total_revenue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522347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'Revenue by rating'!$G$3</c:f>
              <c:strCache>
                <c:ptCount val="1"/>
                <c:pt idx="0">
                  <c:v>total_revenue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by rating'!$F$4:$F$8</c:f>
              <c:strCache>
                <c:ptCount val="5"/>
                <c:pt idx="0">
                  <c:v>PG-13</c:v>
                </c:pt>
                <c:pt idx="1">
                  <c:v>NC-17</c:v>
                </c:pt>
                <c:pt idx="2">
                  <c:v>PG</c:v>
                </c:pt>
                <c:pt idx="3">
                  <c:v>R</c:v>
                </c:pt>
                <c:pt idx="4">
                  <c:v>G</c:v>
                </c:pt>
              </c:strCache>
            </c:strRef>
          </c:cat>
          <c:val>
            <c:numRef>
              <c:f>'Revenue by rating'!$G$4:$G$8</c:f>
              <c:numCache>
                <c:formatCode>General</c:formatCode>
                <c:ptCount val="5"/>
                <c:pt idx="0">
                  <c:v>13855.56</c:v>
                </c:pt>
                <c:pt idx="1">
                  <c:v>12634.92</c:v>
                </c:pt>
                <c:pt idx="2">
                  <c:v>12236.65</c:v>
                </c:pt>
                <c:pt idx="3">
                  <c:v>12073.03</c:v>
                </c:pt>
                <c:pt idx="4">
                  <c:v>10511.88</c:v>
                </c:pt>
              </c:numCache>
            </c:numRef>
          </c:val>
          <c:extLst>
            <c:ext xmlns:c16="http://schemas.microsoft.com/office/drawing/2014/chart" uri="{C3380CC4-5D6E-409C-BE32-E72D297353CC}">
              <c16:uniqueId val="{00000000-DF3A-4C74-BE77-10109E72A404}"/>
            </c:ext>
          </c:extLst>
        </c:ser>
        <c:dLbls>
          <c:dLblPos val="outEnd"/>
          <c:showLegendKey val="0"/>
          <c:showVal val="1"/>
          <c:showCatName val="0"/>
          <c:showSerName val="0"/>
          <c:showPercent val="0"/>
          <c:showBubbleSize val="0"/>
        </c:dLbls>
        <c:gapWidth val="219"/>
        <c:axId val="1439006640"/>
        <c:axId val="1439004720"/>
      </c:barChart>
      <c:catAx>
        <c:axId val="143900664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rating</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9004720"/>
        <c:crosses val="autoZero"/>
        <c:auto val="1"/>
        <c:lblAlgn val="ctr"/>
        <c:lblOffset val="100"/>
        <c:noMultiLvlLbl val="0"/>
      </c:catAx>
      <c:valAx>
        <c:axId val="14390047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total_revenue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90066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076716713728319"/>
          <c:y val="0.16203703703703703"/>
          <c:w val="0.71124441790747717"/>
          <c:h val="0.74387357830271217"/>
        </c:manualLayout>
      </c:layout>
      <c:barChart>
        <c:barDir val="bar"/>
        <c:grouping val="clustered"/>
        <c:varyColors val="0"/>
        <c:ser>
          <c:idx val="0"/>
          <c:order val="0"/>
          <c:tx>
            <c:strRef>
              <c:f>'Revenue by genre'!$G$3</c:f>
              <c:strCache>
                <c:ptCount val="1"/>
                <c:pt idx="0">
                  <c:v>total_revenue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'Revenue by genre'!$F$4:$F$20</c:f>
              <c:strCache>
                <c:ptCount val="17"/>
                <c:pt idx="0">
                  <c:v>Sports</c:v>
                </c:pt>
                <c:pt idx="1">
                  <c:v>Sci-Fi</c:v>
                </c:pt>
                <c:pt idx="2">
                  <c:v>Animation</c:v>
                </c:pt>
                <c:pt idx="3">
                  <c:v>Drama</c:v>
                </c:pt>
                <c:pt idx="4">
                  <c:v>Comedy</c:v>
                </c:pt>
                <c:pt idx="5">
                  <c:v>New</c:v>
                </c:pt>
                <c:pt idx="6">
                  <c:v>Action</c:v>
                </c:pt>
                <c:pt idx="7">
                  <c:v>Foreign</c:v>
                </c:pt>
                <c:pt idx="8">
                  <c:v>Games</c:v>
                </c:pt>
                <c:pt idx="9">
                  <c:v>Family</c:v>
                </c:pt>
                <c:pt idx="10">
                  <c:v>Documentary</c:v>
                </c:pt>
                <c:pt idx="11">
                  <c:v>Horror</c:v>
                </c:pt>
                <c:pt idx="12">
                  <c:v>Classics</c:v>
                </c:pt>
                <c:pt idx="13">
                  <c:v>Children</c:v>
                </c:pt>
                <c:pt idx="14">
                  <c:v>Travel</c:v>
                </c:pt>
                <c:pt idx="15">
                  <c:v>Music</c:v>
                </c:pt>
                <c:pt idx="16">
                  <c:v>Thriller</c:v>
                </c:pt>
              </c:strCache>
            </c:strRef>
          </c:cat>
          <c:val>
            <c:numRef>
              <c:f>'Revenue by genre'!$G$4:$G$20</c:f>
              <c:numCache>
                <c:formatCode>General</c:formatCode>
                <c:ptCount val="17"/>
                <c:pt idx="0">
                  <c:v>4892.1899999999996</c:v>
                </c:pt>
                <c:pt idx="1">
                  <c:v>4336.01</c:v>
                </c:pt>
                <c:pt idx="2">
                  <c:v>4245.3100000000004</c:v>
                </c:pt>
                <c:pt idx="3">
                  <c:v>4118.46</c:v>
                </c:pt>
                <c:pt idx="4">
                  <c:v>4002.48</c:v>
                </c:pt>
                <c:pt idx="5">
                  <c:v>3966.38</c:v>
                </c:pt>
                <c:pt idx="6">
                  <c:v>3951.84</c:v>
                </c:pt>
                <c:pt idx="7">
                  <c:v>3934.47</c:v>
                </c:pt>
                <c:pt idx="8">
                  <c:v>3922.18</c:v>
                </c:pt>
                <c:pt idx="9">
                  <c:v>3782.26</c:v>
                </c:pt>
                <c:pt idx="10">
                  <c:v>3749.65</c:v>
                </c:pt>
                <c:pt idx="11">
                  <c:v>3401.27</c:v>
                </c:pt>
                <c:pt idx="12">
                  <c:v>3353.38</c:v>
                </c:pt>
                <c:pt idx="13">
                  <c:v>3309.39</c:v>
                </c:pt>
                <c:pt idx="14">
                  <c:v>3227.36</c:v>
                </c:pt>
                <c:pt idx="15">
                  <c:v>3071.52</c:v>
                </c:pt>
                <c:pt idx="16">
                  <c:v>47.89</c:v>
                </c:pt>
              </c:numCache>
            </c:numRef>
          </c:val>
          <c:extLst>
            <c:ext xmlns:c16="http://schemas.microsoft.com/office/drawing/2014/chart" uri="{C3380CC4-5D6E-409C-BE32-E72D297353CC}">
              <c16:uniqueId val="{00000000-2465-43D3-816C-711038985175}"/>
            </c:ext>
          </c:extLst>
        </c:ser>
        <c:dLbls>
          <c:dLblPos val="outEnd"/>
          <c:showLegendKey val="0"/>
          <c:showVal val="1"/>
          <c:showCatName val="0"/>
          <c:showSerName val="0"/>
          <c:showPercent val="0"/>
          <c:showBubbleSize val="0"/>
        </c:dLbls>
        <c:gapWidth val="182"/>
        <c:axId val="1545573840"/>
        <c:axId val="1545576720"/>
      </c:barChart>
      <c:catAx>
        <c:axId val="1545573840"/>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genre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5576720"/>
        <c:crosses val="autoZero"/>
        <c:auto val="1"/>
        <c:lblAlgn val="ctr"/>
        <c:lblOffset val="100"/>
        <c:noMultiLvlLbl val="0"/>
      </c:catAx>
      <c:valAx>
        <c:axId val="15455767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total_revenue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557384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'Lifetime value'!$L$3</c:f>
              <c:strCache>
                <c:ptCount val="1"/>
                <c:pt idx="0">
                  <c:v>lifetime_value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'Lifetime value'!$J$4:$J$13</c:f>
              <c:strCache>
                <c:ptCount val="10"/>
                <c:pt idx="0">
                  <c:v>Runion</c:v>
                </c:pt>
                <c:pt idx="1">
                  <c:v>United States</c:v>
                </c:pt>
                <c:pt idx="2">
                  <c:v>Brazil</c:v>
                </c:pt>
                <c:pt idx="3">
                  <c:v>Netherlands</c:v>
                </c:pt>
                <c:pt idx="4">
                  <c:v>Belarus</c:v>
                </c:pt>
                <c:pt idx="5">
                  <c:v>Iran</c:v>
                </c:pt>
                <c:pt idx="6">
                  <c:v>United States</c:v>
                </c:pt>
                <c:pt idx="7">
                  <c:v>Canada</c:v>
                </c:pt>
                <c:pt idx="8">
                  <c:v>Philippines</c:v>
                </c:pt>
                <c:pt idx="9">
                  <c:v>India</c:v>
                </c:pt>
              </c:strCache>
            </c:strRef>
          </c:cat>
          <c:val>
            <c:numRef>
              <c:f>'Lifetime value'!$L$4:$L$13</c:f>
              <c:numCache>
                <c:formatCode>General</c:formatCode>
                <c:ptCount val="10"/>
                <c:pt idx="0">
                  <c:v>211.55</c:v>
                </c:pt>
                <c:pt idx="1">
                  <c:v>208.58</c:v>
                </c:pt>
                <c:pt idx="2">
                  <c:v>194.61</c:v>
                </c:pt>
                <c:pt idx="3">
                  <c:v>191.62</c:v>
                </c:pt>
                <c:pt idx="4">
                  <c:v>189.6</c:v>
                </c:pt>
                <c:pt idx="5">
                  <c:v>183.63</c:v>
                </c:pt>
                <c:pt idx="6">
                  <c:v>167.67</c:v>
                </c:pt>
                <c:pt idx="7">
                  <c:v>167.62</c:v>
                </c:pt>
                <c:pt idx="8">
                  <c:v>166.61</c:v>
                </c:pt>
                <c:pt idx="9">
                  <c:v>162.66999999999999</c:v>
                </c:pt>
              </c:numCache>
            </c:numRef>
          </c:val>
          <c:extLst>
            <c:ext xmlns:c16="http://schemas.microsoft.com/office/drawing/2014/chart" uri="{C3380CC4-5D6E-409C-BE32-E72D297353CC}">
              <c16:uniqueId val="{00000000-09D0-4ABE-9729-0346B8C9FB0B}"/>
            </c:ext>
          </c:extLst>
        </c:ser>
        <c:dLbls>
          <c:dLblPos val="outEnd"/>
          <c:showLegendKey val="0"/>
          <c:showVal val="1"/>
          <c:showCatName val="0"/>
          <c:showSerName val="0"/>
          <c:showPercent val="0"/>
          <c:showBubbleSize val="0"/>
        </c:dLbls>
        <c:gapWidth val="219"/>
        <c:overlap val="-27"/>
        <c:axId val="1253258656"/>
        <c:axId val="1253242336"/>
      </c:barChart>
      <c:catAx>
        <c:axId val="125325865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Country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3242336"/>
        <c:crosses val="autoZero"/>
        <c:auto val="1"/>
        <c:lblAlgn val="ctr"/>
        <c:lblOffset val="100"/>
        <c:noMultiLvlLbl val="0"/>
      </c:catAx>
      <c:valAx>
        <c:axId val="1253242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lifrtime_value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3258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2BEA2-5848-F07A-E677-480A068F33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5944ED-F5AB-81B7-4732-9A165CA8C8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449A2-428B-231A-3A6E-F454A629A9E4}"/>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5B640537-34FB-B41C-6E8F-AC30D52DED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19945-47EE-A0F4-ECE6-3AB8745ACFF3}"/>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28344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DD6E4-9BAE-3156-D8DC-79C9EA515B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EC6602-6234-D24F-6122-F94C7A17C7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DE0C8D-3EC7-7206-D24D-F594CA970666}"/>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D6EB5EA0-475F-6DF3-378C-9FACF7FC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DB29CC-2BF8-5BAC-A2E0-E6284F91F356}"/>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183560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B1BDD-7561-0EF3-6720-0D695F1837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FA09B8-08A4-2564-8A7B-82FAD2C732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74002F-805D-B361-7E48-9AB40AD9EAEE}"/>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48C39E53-9AB0-EF30-59FD-FC210FF480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1CEF5-ECA8-4830-65C6-F446AC7759BD}"/>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613051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396C0-C066-1F2A-A05A-05642E6B8B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99D21B-E041-6604-D17D-A63DE7F230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B31419-2391-48B1-62EC-31D8694DC7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B22638-8F5E-D73B-D125-2761DE6EC399}"/>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6" name="Footer Placeholder 5">
            <a:extLst>
              <a:ext uri="{FF2B5EF4-FFF2-40B4-BE49-F238E27FC236}">
                <a16:creationId xmlns:a16="http://schemas.microsoft.com/office/drawing/2014/main" id="{7313016E-679E-CABE-E8B6-DB96D3689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5A9DCA-116D-C199-2F3E-0393124E7E03}"/>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138905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B7E58-B66D-B975-A61F-DEB36A3232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333BAD-5D95-2007-B9A2-C6AB4C5FB7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B2AB56-FAB7-3E27-5855-11425C17DE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74E203-711C-09D3-23FA-B273500203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1372EB-18EA-3DB5-B9E6-7AA45F2DF3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F49D91-2371-D421-C0C2-25206AAF7BDB}"/>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8" name="Footer Placeholder 7">
            <a:extLst>
              <a:ext uri="{FF2B5EF4-FFF2-40B4-BE49-F238E27FC236}">
                <a16:creationId xmlns:a16="http://schemas.microsoft.com/office/drawing/2014/main" id="{AAF21AFD-F5CF-CC5A-5959-EA2C9911DE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72FC6D-2E51-8A6C-2D78-523D733F3DC2}"/>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1983480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5F10-7B67-3EBD-33C0-A5B5DC898F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D1ABE6-A17E-6F82-750D-A773D13900B3}"/>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4" name="Footer Placeholder 3">
            <a:extLst>
              <a:ext uri="{FF2B5EF4-FFF2-40B4-BE49-F238E27FC236}">
                <a16:creationId xmlns:a16="http://schemas.microsoft.com/office/drawing/2014/main" id="{19F67E71-3FD6-4BCA-8805-3F145F542D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456365-DBF1-6110-E2C6-78093E7E2EBC}"/>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3445677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F66EE0-76A3-2F40-371B-AA60E0F4DBFF}"/>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3" name="Footer Placeholder 2">
            <a:extLst>
              <a:ext uri="{FF2B5EF4-FFF2-40B4-BE49-F238E27FC236}">
                <a16:creationId xmlns:a16="http://schemas.microsoft.com/office/drawing/2014/main" id="{236F008A-0111-2CFC-7BDC-D8D69C3FD5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9A0D1E-82B6-1968-516A-85BE96EEA518}"/>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1169617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29D0-EBA5-50B0-41AE-A3335F3B6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920365-950A-B9F5-84FB-B8FE506663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6216E2-1E5E-CEE1-706D-EED5D76F2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382299-5E30-7C7C-F573-AFF6370F769A}"/>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6" name="Footer Placeholder 5">
            <a:extLst>
              <a:ext uri="{FF2B5EF4-FFF2-40B4-BE49-F238E27FC236}">
                <a16:creationId xmlns:a16="http://schemas.microsoft.com/office/drawing/2014/main" id="{9EF70D26-C9EA-7796-660C-E62FF818F4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29A00-027C-3257-9E6D-898383A9062E}"/>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320217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8838-88E4-C11E-CB58-7568BA4CA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C02CC-8DDD-3F6A-3999-0DDE364CCD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EFA13E-1018-B251-D275-B4424A9E3C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4F40A9-B153-7BB6-C48D-70AAD5EED853}"/>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6" name="Footer Placeholder 5">
            <a:extLst>
              <a:ext uri="{FF2B5EF4-FFF2-40B4-BE49-F238E27FC236}">
                <a16:creationId xmlns:a16="http://schemas.microsoft.com/office/drawing/2014/main" id="{DC5B8549-C0AB-6429-43CA-39975CC319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32545-11BB-FF11-AB91-18732B8AA2C0}"/>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191153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2F9A-47D7-EF59-919B-BBD4968A6E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4DF4A83-6E62-2F8E-1678-4FEE4E2A7D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D5EA2-2D9A-63BC-4EEC-C8D11BAE8B66}"/>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6F7554E6-0B4D-DE2F-BC50-E17ED4ABBC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33ED7-BCFD-4F95-3230-7BAC51E1CFA0}"/>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3413859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AC1AB6-564A-23B4-3285-A9850F5E9F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817C09-6846-A56C-A0D0-D2AA445753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FEE0A-7900-7F5E-6E95-C9005F3F824B}"/>
              </a:ext>
            </a:extLst>
          </p:cNvPr>
          <p:cNvSpPr>
            <a:spLocks noGrp="1"/>
          </p:cNvSpPr>
          <p:nvPr>
            <p:ph type="dt" sz="half" idx="10"/>
          </p:nvPr>
        </p:nvSpPr>
        <p:spPr/>
        <p:txBody>
          <a:body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9146DE34-91AE-5AEC-79B7-5F139A7EE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17A637-714B-6E14-06D8-6DCC878BD3FC}"/>
              </a:ext>
            </a:extLst>
          </p:cNvPr>
          <p:cNvSpPr>
            <a:spLocks noGrp="1"/>
          </p:cNvSpPr>
          <p:nvPr>
            <p:ph type="sldNum" sz="quarter" idx="12"/>
          </p:nvPr>
        </p:nvSpPr>
        <p:spPr/>
        <p:txBody>
          <a:bodyPr/>
          <a:lstStyle/>
          <a:p>
            <a:fld id="{67E9C562-604E-4210-94AE-AAE2E9E6A2BF}" type="slidenum">
              <a:rPr lang="en-US" smtClean="0"/>
              <a:t>‹#›</a:t>
            </a:fld>
            <a:endParaRPr lang="en-US"/>
          </a:p>
        </p:txBody>
      </p:sp>
    </p:spTree>
    <p:extLst>
      <p:ext uri="{BB962C8B-B14F-4D97-AF65-F5344CB8AC3E}">
        <p14:creationId xmlns:p14="http://schemas.microsoft.com/office/powerpoint/2010/main" val="372839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11234-DD9F-BD1C-0F99-B021E4FC59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031F9D-1DCD-2726-F45A-37EED5E854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48EBA-EB5D-D0C0-8351-AEB727BA4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BB0C29-73B8-402E-BA53-ED3E0BFC94DF}" type="datetimeFigureOut">
              <a:rPr lang="en-US" smtClean="0"/>
              <a:t>8/11/2025</a:t>
            </a:fld>
            <a:endParaRPr lang="en-US"/>
          </a:p>
        </p:txBody>
      </p:sp>
      <p:sp>
        <p:nvSpPr>
          <p:cNvPr id="5" name="Footer Placeholder 4">
            <a:extLst>
              <a:ext uri="{FF2B5EF4-FFF2-40B4-BE49-F238E27FC236}">
                <a16:creationId xmlns:a16="http://schemas.microsoft.com/office/drawing/2014/main" id="{26250717-46C8-BA6D-24CE-3C8E2E9F33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E8ED15-8DFC-7712-EC18-6ECC8A259F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E9C562-604E-4210-94AE-AAE2E9E6A2BF}" type="slidenum">
              <a:rPr lang="en-US" smtClean="0"/>
              <a:t>‹#›</a:t>
            </a:fld>
            <a:endParaRPr lang="en-US"/>
          </a:p>
        </p:txBody>
      </p:sp>
    </p:spTree>
    <p:extLst>
      <p:ext uri="{BB962C8B-B14F-4D97-AF65-F5344CB8AC3E}">
        <p14:creationId xmlns:p14="http://schemas.microsoft.com/office/powerpoint/2010/main" val="3897212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public.tableau.com/app/profile/oluwole.oni2300/viz/Top10rockbustercountry/Sheet1?publish=yes"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ublic.tableau.com/app/profile/oluwole.oni2300/viz/Salesbyregion_17544526862710/Sheet2?publish=ye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7770-B7E7-6E1C-DF30-FD63AA6AB290}"/>
              </a:ext>
            </a:extLst>
          </p:cNvPr>
          <p:cNvSpPr>
            <a:spLocks noGrp="1"/>
          </p:cNvSpPr>
          <p:nvPr>
            <p:ph type="ctrTitle"/>
          </p:nvPr>
        </p:nvSpPr>
        <p:spPr>
          <a:xfrm>
            <a:off x="1524000" y="1122363"/>
            <a:ext cx="9144000" cy="2441452"/>
          </a:xfrm>
        </p:spPr>
        <p:txBody>
          <a:bodyPr/>
          <a:lstStyle/>
          <a:p>
            <a:r>
              <a:rPr lang="en-US" b="1" dirty="0">
                <a:solidFill>
                  <a:schemeClr val="accent1"/>
                </a:solidFill>
              </a:rPr>
              <a:t>Rockbuster Stealth Data Analysis project.</a:t>
            </a:r>
          </a:p>
        </p:txBody>
      </p:sp>
      <p:sp>
        <p:nvSpPr>
          <p:cNvPr id="3" name="Subtitle 2">
            <a:extLst>
              <a:ext uri="{FF2B5EF4-FFF2-40B4-BE49-F238E27FC236}">
                <a16:creationId xmlns:a16="http://schemas.microsoft.com/office/drawing/2014/main" id="{9719B576-D490-3020-EA5A-695364FC5C01}"/>
              </a:ext>
            </a:extLst>
          </p:cNvPr>
          <p:cNvSpPr>
            <a:spLocks noGrp="1"/>
          </p:cNvSpPr>
          <p:nvPr>
            <p:ph type="subTitle" idx="1"/>
          </p:nvPr>
        </p:nvSpPr>
        <p:spPr>
          <a:xfrm>
            <a:off x="2203938" y="3798277"/>
            <a:ext cx="6893170" cy="1459523"/>
          </a:xfrm>
        </p:spPr>
        <p:txBody>
          <a:bodyPr/>
          <a:lstStyle/>
          <a:p>
            <a:r>
              <a:rPr lang="en-US" b="1" dirty="0"/>
              <a:t>OLUWOLE ONI</a:t>
            </a:r>
          </a:p>
        </p:txBody>
      </p:sp>
      <p:sp>
        <p:nvSpPr>
          <p:cNvPr id="4" name="TextBox 3">
            <a:extLst>
              <a:ext uri="{FF2B5EF4-FFF2-40B4-BE49-F238E27FC236}">
                <a16:creationId xmlns:a16="http://schemas.microsoft.com/office/drawing/2014/main" id="{E4651761-B116-4CA7-1F93-D17064269A16}"/>
              </a:ext>
            </a:extLst>
          </p:cNvPr>
          <p:cNvSpPr txBox="1"/>
          <p:nvPr/>
        </p:nvSpPr>
        <p:spPr>
          <a:xfrm>
            <a:off x="4968733" y="4267200"/>
            <a:ext cx="1363579" cy="369332"/>
          </a:xfrm>
          <a:prstGeom prst="rect">
            <a:avLst/>
          </a:prstGeom>
          <a:noFill/>
        </p:spPr>
        <p:txBody>
          <a:bodyPr wrap="square" rtlCol="0">
            <a:spAutoFit/>
          </a:bodyPr>
          <a:lstStyle/>
          <a:p>
            <a:r>
              <a:rPr lang="en-US" b="1" dirty="0"/>
              <a:t>8/7/2025</a:t>
            </a:r>
          </a:p>
        </p:txBody>
      </p:sp>
    </p:spTree>
    <p:extLst>
      <p:ext uri="{BB962C8B-B14F-4D97-AF65-F5344CB8AC3E}">
        <p14:creationId xmlns:p14="http://schemas.microsoft.com/office/powerpoint/2010/main" val="47687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BDA26-E474-7A64-6DAB-B3DB094D84AF}"/>
              </a:ext>
            </a:extLst>
          </p:cNvPr>
          <p:cNvSpPr>
            <a:spLocks noGrp="1"/>
          </p:cNvSpPr>
          <p:nvPr>
            <p:ph type="title"/>
          </p:nvPr>
        </p:nvSpPr>
        <p:spPr>
          <a:xfrm>
            <a:off x="838200" y="365126"/>
            <a:ext cx="3492062" cy="591316"/>
          </a:xfrm>
        </p:spPr>
        <p:txBody>
          <a:bodyPr>
            <a:normAutofit fontScale="90000"/>
          </a:bodyPr>
          <a:lstStyle/>
          <a:p>
            <a:r>
              <a:rPr lang="en-US" b="1" dirty="0">
                <a:solidFill>
                  <a:schemeClr val="accent1"/>
                </a:solidFill>
              </a:rPr>
              <a:t>Objectives:</a:t>
            </a:r>
          </a:p>
        </p:txBody>
      </p:sp>
      <p:sp>
        <p:nvSpPr>
          <p:cNvPr id="3" name="Content Placeholder 2">
            <a:extLst>
              <a:ext uri="{FF2B5EF4-FFF2-40B4-BE49-F238E27FC236}">
                <a16:creationId xmlns:a16="http://schemas.microsoft.com/office/drawing/2014/main" id="{1786D1FE-26F7-9933-C90E-F7715D4E1268}"/>
              </a:ext>
            </a:extLst>
          </p:cNvPr>
          <p:cNvSpPr>
            <a:spLocks noGrp="1"/>
          </p:cNvSpPr>
          <p:nvPr>
            <p:ph idx="1"/>
          </p:nvPr>
        </p:nvSpPr>
        <p:spPr>
          <a:xfrm>
            <a:off x="838200" y="956442"/>
            <a:ext cx="10515600" cy="4445875"/>
          </a:xfrm>
        </p:spPr>
        <p:txBody>
          <a:bodyPr/>
          <a:lstStyle/>
          <a:p>
            <a:pPr marL="0" indent="0">
              <a:buNone/>
            </a:pPr>
            <a:br>
              <a:rPr lang="en-US" dirty="0"/>
            </a:br>
            <a:r>
              <a:rPr lang="en-US" dirty="0"/>
              <a:t>Rockbuster Stealth LLC, a former global movie rental chain, aims to transition into the online video rental market to remain competitive against streaming giants like Netflix and Amazon Prime. To support this shift, the management team seeks data-driven insights from its existing customer and rental data to guide strategic decisions for their 2020 business plan and ensure a successful digital launch.</a:t>
            </a:r>
          </a:p>
        </p:txBody>
      </p:sp>
    </p:spTree>
    <p:extLst>
      <p:ext uri="{BB962C8B-B14F-4D97-AF65-F5344CB8AC3E}">
        <p14:creationId xmlns:p14="http://schemas.microsoft.com/office/powerpoint/2010/main" val="21076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0F02-695D-6F3A-7EB3-E8984DCA4589}"/>
              </a:ext>
            </a:extLst>
          </p:cNvPr>
          <p:cNvSpPr>
            <a:spLocks noGrp="1"/>
          </p:cNvSpPr>
          <p:nvPr>
            <p:ph type="title"/>
          </p:nvPr>
        </p:nvSpPr>
        <p:spPr>
          <a:xfrm>
            <a:off x="888125" y="136633"/>
            <a:ext cx="3431627" cy="629443"/>
          </a:xfrm>
        </p:spPr>
        <p:txBody>
          <a:bodyPr>
            <a:normAutofit fontScale="90000"/>
          </a:bodyPr>
          <a:lstStyle/>
          <a:p>
            <a:r>
              <a:rPr lang="en-US" b="1" dirty="0"/>
              <a:t>Data Overview </a:t>
            </a:r>
          </a:p>
        </p:txBody>
      </p:sp>
      <p:sp>
        <p:nvSpPr>
          <p:cNvPr id="17" name="Content Placeholder 16">
            <a:extLst>
              <a:ext uri="{FF2B5EF4-FFF2-40B4-BE49-F238E27FC236}">
                <a16:creationId xmlns:a16="http://schemas.microsoft.com/office/drawing/2014/main" id="{D19CC183-4BB0-7D89-5F27-A2E67A000EE3}"/>
              </a:ext>
            </a:extLst>
          </p:cNvPr>
          <p:cNvSpPr>
            <a:spLocks noGrp="1"/>
          </p:cNvSpPr>
          <p:nvPr>
            <p:ph idx="1"/>
          </p:nvPr>
        </p:nvSpPr>
        <p:spPr>
          <a:xfrm>
            <a:off x="604345" y="1269767"/>
            <a:ext cx="11293366" cy="5451600"/>
          </a:xfrm>
        </p:spPr>
        <p:txBody>
          <a:bodyPr/>
          <a:lstStyle/>
          <a:p>
            <a:pPr marL="0" indent="0">
              <a:buNone/>
            </a:pPr>
            <a:endParaRPr lang="en-US" sz="1400" dirty="0">
              <a:solidFill>
                <a:schemeClr val="bg1"/>
              </a:solidFill>
            </a:endParaRPr>
          </a:p>
          <a:p>
            <a:pPr marL="0" indent="0">
              <a:buNone/>
            </a:pPr>
            <a:endParaRPr lang="en-US" dirty="0">
              <a:solidFill>
                <a:schemeClr val="bg1"/>
              </a:solidFill>
            </a:endParaRPr>
          </a:p>
          <a:p>
            <a:pPr marL="0" indent="0">
              <a:buNone/>
            </a:pPr>
            <a:endParaRPr lang="en-US" dirty="0">
              <a:solidFill>
                <a:schemeClr val="bg1"/>
              </a:solidFill>
            </a:endParaRPr>
          </a:p>
          <a:p>
            <a:pPr marL="0" indent="0">
              <a:buNone/>
            </a:pPr>
            <a:endParaRPr lang="en-US" dirty="0">
              <a:solidFill>
                <a:schemeClr val="bg1"/>
              </a:solidFill>
            </a:endParaRPr>
          </a:p>
          <a:p>
            <a:pPr marL="0" indent="0">
              <a:buNone/>
            </a:pPr>
            <a:endParaRPr lang="en-US" dirty="0">
              <a:solidFill>
                <a:schemeClr val="bg1"/>
              </a:solidFill>
            </a:endParaRPr>
          </a:p>
          <a:p>
            <a:pPr marL="0" indent="0">
              <a:buNone/>
            </a:pPr>
            <a:r>
              <a:rPr lang="en-US" dirty="0">
                <a:solidFill>
                  <a:schemeClr val="bg1"/>
                </a:solidFill>
              </a:rPr>
              <a:t> </a:t>
            </a:r>
          </a:p>
        </p:txBody>
      </p:sp>
      <p:sp>
        <p:nvSpPr>
          <p:cNvPr id="18" name="Rectangle 17">
            <a:extLst>
              <a:ext uri="{FF2B5EF4-FFF2-40B4-BE49-F238E27FC236}">
                <a16:creationId xmlns:a16="http://schemas.microsoft.com/office/drawing/2014/main" id="{7CA5414F-8D4B-A341-9F69-550015C07E64}"/>
              </a:ext>
            </a:extLst>
          </p:cNvPr>
          <p:cNvSpPr/>
          <p:nvPr/>
        </p:nvSpPr>
        <p:spPr>
          <a:xfrm>
            <a:off x="909144" y="1269767"/>
            <a:ext cx="1715815" cy="1114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films: 1000</a:t>
            </a:r>
          </a:p>
        </p:txBody>
      </p:sp>
      <p:sp>
        <p:nvSpPr>
          <p:cNvPr id="19" name="Rectangle 18">
            <a:extLst>
              <a:ext uri="{FF2B5EF4-FFF2-40B4-BE49-F238E27FC236}">
                <a16:creationId xmlns:a16="http://schemas.microsoft.com/office/drawing/2014/main" id="{EB21CE64-AF33-C506-1E57-586B01A1C98A}"/>
              </a:ext>
            </a:extLst>
          </p:cNvPr>
          <p:cNvSpPr/>
          <p:nvPr/>
        </p:nvSpPr>
        <p:spPr>
          <a:xfrm>
            <a:off x="2849618" y="1280276"/>
            <a:ext cx="1597573" cy="11193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Release year(s): 2006, 2019</a:t>
            </a:r>
          </a:p>
        </p:txBody>
      </p:sp>
      <p:sp>
        <p:nvSpPr>
          <p:cNvPr id="20" name="Rectangle 19">
            <a:extLst>
              <a:ext uri="{FF2B5EF4-FFF2-40B4-BE49-F238E27FC236}">
                <a16:creationId xmlns:a16="http://schemas.microsoft.com/office/drawing/2014/main" id="{A26DE1B9-6789-EEAE-1306-2FDF68FA1897}"/>
              </a:ext>
            </a:extLst>
          </p:cNvPr>
          <p:cNvSpPr/>
          <p:nvPr/>
        </p:nvSpPr>
        <p:spPr>
          <a:xfrm>
            <a:off x="4671850" y="1317064"/>
            <a:ext cx="1597573"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rate min: $0.99</a:t>
            </a:r>
          </a:p>
        </p:txBody>
      </p:sp>
      <p:sp>
        <p:nvSpPr>
          <p:cNvPr id="21" name="Rectangle 20">
            <a:extLst>
              <a:ext uri="{FF2B5EF4-FFF2-40B4-BE49-F238E27FC236}">
                <a16:creationId xmlns:a16="http://schemas.microsoft.com/office/drawing/2014/main" id="{C61CF8DA-81B9-0000-4308-A9165D02327D}"/>
              </a:ext>
            </a:extLst>
          </p:cNvPr>
          <p:cNvSpPr/>
          <p:nvPr/>
        </p:nvSpPr>
        <p:spPr>
          <a:xfrm>
            <a:off x="6494082" y="1331574"/>
            <a:ext cx="1608081"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rate Avg: $2.98</a:t>
            </a:r>
          </a:p>
        </p:txBody>
      </p:sp>
      <p:sp>
        <p:nvSpPr>
          <p:cNvPr id="22" name="Rectangle 21">
            <a:extLst>
              <a:ext uri="{FF2B5EF4-FFF2-40B4-BE49-F238E27FC236}">
                <a16:creationId xmlns:a16="http://schemas.microsoft.com/office/drawing/2014/main" id="{50C60B99-4341-55F6-DEFB-41C2FC84E4B5}"/>
              </a:ext>
            </a:extLst>
          </p:cNvPr>
          <p:cNvSpPr/>
          <p:nvPr/>
        </p:nvSpPr>
        <p:spPr>
          <a:xfrm>
            <a:off x="8391855" y="1319691"/>
            <a:ext cx="1608081" cy="10944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rate max: $4.99</a:t>
            </a:r>
          </a:p>
        </p:txBody>
      </p:sp>
      <p:sp>
        <p:nvSpPr>
          <p:cNvPr id="24" name="Rectangle 23">
            <a:extLst>
              <a:ext uri="{FF2B5EF4-FFF2-40B4-BE49-F238E27FC236}">
                <a16:creationId xmlns:a16="http://schemas.microsoft.com/office/drawing/2014/main" id="{CDA8C9D8-0ADC-7811-E8DF-EE79C5D17F70}"/>
              </a:ext>
            </a:extLst>
          </p:cNvPr>
          <p:cNvSpPr/>
          <p:nvPr/>
        </p:nvSpPr>
        <p:spPr>
          <a:xfrm>
            <a:off x="888125" y="2652579"/>
            <a:ext cx="1736834" cy="1114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duration Avg: 5(days)</a:t>
            </a:r>
          </a:p>
        </p:txBody>
      </p:sp>
      <p:sp>
        <p:nvSpPr>
          <p:cNvPr id="25" name="Rectangle 24">
            <a:extLst>
              <a:ext uri="{FF2B5EF4-FFF2-40B4-BE49-F238E27FC236}">
                <a16:creationId xmlns:a16="http://schemas.microsoft.com/office/drawing/2014/main" id="{C11AD5CB-92B3-D693-56F9-00442DE5AAE3}"/>
              </a:ext>
            </a:extLst>
          </p:cNvPr>
          <p:cNvSpPr/>
          <p:nvPr/>
        </p:nvSpPr>
        <p:spPr>
          <a:xfrm>
            <a:off x="4646558" y="2668345"/>
            <a:ext cx="1621222"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dirty="0"/>
              <a:t>Film length min: 46 (mins)</a:t>
            </a:r>
            <a:endParaRPr lang="en-US" dirty="0"/>
          </a:p>
        </p:txBody>
      </p:sp>
      <p:sp>
        <p:nvSpPr>
          <p:cNvPr id="26" name="Rectangle 25">
            <a:extLst>
              <a:ext uri="{FF2B5EF4-FFF2-40B4-BE49-F238E27FC236}">
                <a16:creationId xmlns:a16="http://schemas.microsoft.com/office/drawing/2014/main" id="{EFEF15E0-EF38-A61A-DFE5-D7AC44129787}"/>
              </a:ext>
            </a:extLst>
          </p:cNvPr>
          <p:cNvSpPr/>
          <p:nvPr/>
        </p:nvSpPr>
        <p:spPr>
          <a:xfrm>
            <a:off x="2825969" y="2668344"/>
            <a:ext cx="1621222" cy="1082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duration max: 7(days)</a:t>
            </a:r>
          </a:p>
        </p:txBody>
      </p:sp>
      <p:sp>
        <p:nvSpPr>
          <p:cNvPr id="29" name="Rectangle 28">
            <a:extLst>
              <a:ext uri="{FF2B5EF4-FFF2-40B4-BE49-F238E27FC236}">
                <a16:creationId xmlns:a16="http://schemas.microsoft.com/office/drawing/2014/main" id="{8A327DA9-D261-7026-58E2-887DD38F5723}"/>
              </a:ext>
            </a:extLst>
          </p:cNvPr>
          <p:cNvSpPr/>
          <p:nvPr/>
        </p:nvSpPr>
        <p:spPr>
          <a:xfrm>
            <a:off x="2837794" y="4035391"/>
            <a:ext cx="1609398" cy="1082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Replacement cost max: $29.99</a:t>
            </a:r>
          </a:p>
        </p:txBody>
      </p:sp>
      <p:sp>
        <p:nvSpPr>
          <p:cNvPr id="30" name="Rectangle 29">
            <a:extLst>
              <a:ext uri="{FF2B5EF4-FFF2-40B4-BE49-F238E27FC236}">
                <a16:creationId xmlns:a16="http://schemas.microsoft.com/office/drawing/2014/main" id="{1C5C391E-BDBD-8DFF-5E72-36052ADC63AC}"/>
              </a:ext>
            </a:extLst>
          </p:cNvPr>
          <p:cNvSpPr/>
          <p:nvPr/>
        </p:nvSpPr>
        <p:spPr>
          <a:xfrm>
            <a:off x="4629806" y="4035391"/>
            <a:ext cx="1621222" cy="10825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G rated films: 179</a:t>
            </a:r>
          </a:p>
        </p:txBody>
      </p:sp>
      <p:sp>
        <p:nvSpPr>
          <p:cNvPr id="31" name="Rectangle 30">
            <a:extLst>
              <a:ext uri="{FF2B5EF4-FFF2-40B4-BE49-F238E27FC236}">
                <a16:creationId xmlns:a16="http://schemas.microsoft.com/office/drawing/2014/main" id="{5447567E-30C4-39D4-EAA2-8A842C9319C7}"/>
              </a:ext>
            </a:extLst>
          </p:cNvPr>
          <p:cNvSpPr/>
          <p:nvPr/>
        </p:nvSpPr>
        <p:spPr>
          <a:xfrm>
            <a:off x="888125" y="4035391"/>
            <a:ext cx="1693479" cy="1114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Replacement cost Avg: $19.98</a:t>
            </a:r>
          </a:p>
        </p:txBody>
      </p:sp>
      <p:sp>
        <p:nvSpPr>
          <p:cNvPr id="32" name="Rectangle 31">
            <a:extLst>
              <a:ext uri="{FF2B5EF4-FFF2-40B4-BE49-F238E27FC236}">
                <a16:creationId xmlns:a16="http://schemas.microsoft.com/office/drawing/2014/main" id="{C93E352E-8746-B3E6-6005-57B7193A3F0F}"/>
              </a:ext>
            </a:extLst>
          </p:cNvPr>
          <p:cNvSpPr/>
          <p:nvPr/>
        </p:nvSpPr>
        <p:spPr>
          <a:xfrm>
            <a:off x="10297512" y="1331574"/>
            <a:ext cx="1600199"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Rental duration min: 3(days)</a:t>
            </a:r>
          </a:p>
        </p:txBody>
      </p:sp>
      <p:sp>
        <p:nvSpPr>
          <p:cNvPr id="33" name="Rectangle 32">
            <a:extLst>
              <a:ext uri="{FF2B5EF4-FFF2-40B4-BE49-F238E27FC236}">
                <a16:creationId xmlns:a16="http://schemas.microsoft.com/office/drawing/2014/main" id="{BE5F1A7D-36B5-F243-E2AD-3CEE78AD1DFF}"/>
              </a:ext>
            </a:extLst>
          </p:cNvPr>
          <p:cNvSpPr/>
          <p:nvPr/>
        </p:nvSpPr>
        <p:spPr>
          <a:xfrm>
            <a:off x="10289630" y="2672315"/>
            <a:ext cx="1608081" cy="1094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Replacement cost min: $9.99</a:t>
            </a:r>
          </a:p>
        </p:txBody>
      </p:sp>
      <p:sp>
        <p:nvSpPr>
          <p:cNvPr id="34" name="Rectangle 33">
            <a:extLst>
              <a:ext uri="{FF2B5EF4-FFF2-40B4-BE49-F238E27FC236}">
                <a16:creationId xmlns:a16="http://schemas.microsoft.com/office/drawing/2014/main" id="{57D473A3-7336-A964-2FB3-11AD0989D02C}"/>
              </a:ext>
            </a:extLst>
          </p:cNvPr>
          <p:cNvSpPr/>
          <p:nvPr/>
        </p:nvSpPr>
        <p:spPr>
          <a:xfrm>
            <a:off x="6494082" y="2652579"/>
            <a:ext cx="1621222"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dirty="0"/>
              <a:t>Film length Avg:115.27 (mins)</a:t>
            </a:r>
            <a:endParaRPr lang="en-US" dirty="0"/>
          </a:p>
        </p:txBody>
      </p:sp>
      <p:sp>
        <p:nvSpPr>
          <p:cNvPr id="35" name="Rectangle 34">
            <a:extLst>
              <a:ext uri="{FF2B5EF4-FFF2-40B4-BE49-F238E27FC236}">
                <a16:creationId xmlns:a16="http://schemas.microsoft.com/office/drawing/2014/main" id="{7721064B-8F4F-F209-B568-0C2B9285ADF3}"/>
              </a:ext>
            </a:extLst>
          </p:cNvPr>
          <p:cNvSpPr/>
          <p:nvPr/>
        </p:nvSpPr>
        <p:spPr>
          <a:xfrm>
            <a:off x="8391854" y="2668344"/>
            <a:ext cx="1640268"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n-NO" dirty="0"/>
              <a:t>Film length max:185 (mins)</a:t>
            </a:r>
            <a:endParaRPr lang="en-US" dirty="0"/>
          </a:p>
        </p:txBody>
      </p:sp>
      <p:sp>
        <p:nvSpPr>
          <p:cNvPr id="36" name="Rectangle 35">
            <a:extLst>
              <a:ext uri="{FF2B5EF4-FFF2-40B4-BE49-F238E27FC236}">
                <a16:creationId xmlns:a16="http://schemas.microsoft.com/office/drawing/2014/main" id="{AECF170F-4DA5-4A79-D042-8F2198598CF2}"/>
              </a:ext>
            </a:extLst>
          </p:cNvPr>
          <p:cNvSpPr/>
          <p:nvPr/>
        </p:nvSpPr>
        <p:spPr>
          <a:xfrm>
            <a:off x="6494082" y="4035391"/>
            <a:ext cx="1656033"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PG-13 rated films: 223</a:t>
            </a:r>
          </a:p>
        </p:txBody>
      </p:sp>
      <p:sp>
        <p:nvSpPr>
          <p:cNvPr id="37" name="Rectangle 36">
            <a:extLst>
              <a:ext uri="{FF2B5EF4-FFF2-40B4-BE49-F238E27FC236}">
                <a16:creationId xmlns:a16="http://schemas.microsoft.com/office/drawing/2014/main" id="{1BFED42B-9DBF-006A-BA4D-93F5C2FB47C0}"/>
              </a:ext>
            </a:extLst>
          </p:cNvPr>
          <p:cNvSpPr/>
          <p:nvPr/>
        </p:nvSpPr>
        <p:spPr>
          <a:xfrm>
            <a:off x="8391854" y="4035390"/>
            <a:ext cx="1640268"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PG rated films: 194</a:t>
            </a:r>
          </a:p>
        </p:txBody>
      </p:sp>
      <p:sp>
        <p:nvSpPr>
          <p:cNvPr id="38" name="Rectangle 37">
            <a:extLst>
              <a:ext uri="{FF2B5EF4-FFF2-40B4-BE49-F238E27FC236}">
                <a16:creationId xmlns:a16="http://schemas.microsoft.com/office/drawing/2014/main" id="{72D3349F-51CE-019F-81E9-8E8B099B7963}"/>
              </a:ext>
            </a:extLst>
          </p:cNvPr>
          <p:cNvSpPr/>
          <p:nvPr/>
        </p:nvSpPr>
        <p:spPr>
          <a:xfrm>
            <a:off x="888125" y="5418203"/>
            <a:ext cx="1693478" cy="10088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NC-17 rated films: 210</a:t>
            </a:r>
          </a:p>
        </p:txBody>
      </p:sp>
      <p:sp>
        <p:nvSpPr>
          <p:cNvPr id="40" name="Rectangle 39">
            <a:extLst>
              <a:ext uri="{FF2B5EF4-FFF2-40B4-BE49-F238E27FC236}">
                <a16:creationId xmlns:a16="http://schemas.microsoft.com/office/drawing/2014/main" id="{926D0C90-150E-FCB0-CF0D-EEEC7BC30F59}"/>
              </a:ext>
            </a:extLst>
          </p:cNvPr>
          <p:cNvSpPr/>
          <p:nvPr/>
        </p:nvSpPr>
        <p:spPr>
          <a:xfrm>
            <a:off x="10305394" y="4035390"/>
            <a:ext cx="1592316" cy="1082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R rated films: 195</a:t>
            </a:r>
          </a:p>
        </p:txBody>
      </p:sp>
      <p:sp>
        <p:nvSpPr>
          <p:cNvPr id="42" name="TextBox 41">
            <a:extLst>
              <a:ext uri="{FF2B5EF4-FFF2-40B4-BE49-F238E27FC236}">
                <a16:creationId xmlns:a16="http://schemas.microsoft.com/office/drawing/2014/main" id="{45D903D1-16DB-9370-1A0D-D9FA0D319CB2}"/>
              </a:ext>
            </a:extLst>
          </p:cNvPr>
          <p:cNvSpPr txBox="1"/>
          <p:nvPr/>
        </p:nvSpPr>
        <p:spPr>
          <a:xfrm>
            <a:off x="888125" y="766077"/>
            <a:ext cx="10893972" cy="369332"/>
          </a:xfrm>
          <a:prstGeom prst="rect">
            <a:avLst/>
          </a:prstGeom>
          <a:noFill/>
        </p:spPr>
        <p:txBody>
          <a:bodyPr wrap="square" rtlCol="0">
            <a:spAutoFit/>
          </a:bodyPr>
          <a:lstStyle/>
          <a:p>
            <a:r>
              <a:rPr lang="en-US" dirty="0"/>
              <a:t>Below is a data overview of key points from within  the film, customer, country and city data.</a:t>
            </a:r>
          </a:p>
        </p:txBody>
      </p:sp>
      <p:sp>
        <p:nvSpPr>
          <p:cNvPr id="43" name="Rectangle 42">
            <a:extLst>
              <a:ext uri="{FF2B5EF4-FFF2-40B4-BE49-F238E27FC236}">
                <a16:creationId xmlns:a16="http://schemas.microsoft.com/office/drawing/2014/main" id="{700AC9AD-9EDA-1D53-8AA9-625365F0C8B6}"/>
              </a:ext>
            </a:extLst>
          </p:cNvPr>
          <p:cNvSpPr/>
          <p:nvPr/>
        </p:nvSpPr>
        <p:spPr>
          <a:xfrm>
            <a:off x="4629806" y="5432414"/>
            <a:ext cx="1637974" cy="1038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customers created per store#1: 326</a:t>
            </a:r>
          </a:p>
        </p:txBody>
      </p:sp>
      <p:sp>
        <p:nvSpPr>
          <p:cNvPr id="44" name="Rectangle 43">
            <a:extLst>
              <a:ext uri="{FF2B5EF4-FFF2-40B4-BE49-F238E27FC236}">
                <a16:creationId xmlns:a16="http://schemas.microsoft.com/office/drawing/2014/main" id="{E822F0F4-CC86-00F2-77EF-4882A55491C3}"/>
              </a:ext>
            </a:extLst>
          </p:cNvPr>
          <p:cNvSpPr/>
          <p:nvPr/>
        </p:nvSpPr>
        <p:spPr>
          <a:xfrm>
            <a:off x="6494079" y="5418202"/>
            <a:ext cx="1637974" cy="10825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customers created per store#2: 273</a:t>
            </a:r>
          </a:p>
        </p:txBody>
      </p:sp>
      <p:sp>
        <p:nvSpPr>
          <p:cNvPr id="47" name="Rectangle 46">
            <a:extLst>
              <a:ext uri="{FF2B5EF4-FFF2-40B4-BE49-F238E27FC236}">
                <a16:creationId xmlns:a16="http://schemas.microsoft.com/office/drawing/2014/main" id="{5A7F56D2-243C-C572-5760-05128C580312}"/>
              </a:ext>
            </a:extLst>
          </p:cNvPr>
          <p:cNvSpPr/>
          <p:nvPr/>
        </p:nvSpPr>
        <p:spPr>
          <a:xfrm>
            <a:off x="2825969" y="5432414"/>
            <a:ext cx="1621222" cy="10084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customer: 599</a:t>
            </a:r>
          </a:p>
        </p:txBody>
      </p:sp>
      <p:sp>
        <p:nvSpPr>
          <p:cNvPr id="48" name="Rectangle 47">
            <a:extLst>
              <a:ext uri="{FF2B5EF4-FFF2-40B4-BE49-F238E27FC236}">
                <a16:creationId xmlns:a16="http://schemas.microsoft.com/office/drawing/2014/main" id="{E84FDCD8-6ED6-D588-3B25-5DF5BD24EE61}"/>
              </a:ext>
            </a:extLst>
          </p:cNvPr>
          <p:cNvSpPr/>
          <p:nvPr/>
        </p:nvSpPr>
        <p:spPr>
          <a:xfrm>
            <a:off x="8358352" y="5402436"/>
            <a:ext cx="1673770" cy="1068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countries: 109</a:t>
            </a:r>
          </a:p>
        </p:txBody>
      </p:sp>
      <p:sp>
        <p:nvSpPr>
          <p:cNvPr id="49" name="Rectangle 48">
            <a:extLst>
              <a:ext uri="{FF2B5EF4-FFF2-40B4-BE49-F238E27FC236}">
                <a16:creationId xmlns:a16="http://schemas.microsoft.com/office/drawing/2014/main" id="{F5708390-BFFF-E37E-C36B-EE8E728C7412}"/>
              </a:ext>
            </a:extLst>
          </p:cNvPr>
          <p:cNvSpPr/>
          <p:nvPr/>
        </p:nvSpPr>
        <p:spPr>
          <a:xfrm>
            <a:off x="10297512" y="5402436"/>
            <a:ext cx="1600197" cy="1068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Numbers of cities: 600</a:t>
            </a:r>
          </a:p>
        </p:txBody>
      </p:sp>
    </p:spTree>
    <p:extLst>
      <p:ext uri="{BB962C8B-B14F-4D97-AF65-F5344CB8AC3E}">
        <p14:creationId xmlns:p14="http://schemas.microsoft.com/office/powerpoint/2010/main" val="2545969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71ED-8992-DD7D-659A-5BB51687E245}"/>
              </a:ext>
            </a:extLst>
          </p:cNvPr>
          <p:cNvSpPr>
            <a:spLocks noGrp="1"/>
          </p:cNvSpPr>
          <p:nvPr>
            <p:ph type="title"/>
          </p:nvPr>
        </p:nvSpPr>
        <p:spPr>
          <a:xfrm>
            <a:off x="922283" y="627884"/>
            <a:ext cx="4784834" cy="833054"/>
          </a:xfrm>
        </p:spPr>
        <p:txBody>
          <a:bodyPr/>
          <a:lstStyle/>
          <a:p>
            <a:r>
              <a:rPr lang="en-US" b="1" dirty="0">
                <a:solidFill>
                  <a:schemeClr val="accent1"/>
                </a:solidFill>
              </a:rPr>
              <a:t>Key Questions:</a:t>
            </a:r>
          </a:p>
        </p:txBody>
      </p:sp>
      <p:sp>
        <p:nvSpPr>
          <p:cNvPr id="3" name="Content Placeholder 2">
            <a:extLst>
              <a:ext uri="{FF2B5EF4-FFF2-40B4-BE49-F238E27FC236}">
                <a16:creationId xmlns:a16="http://schemas.microsoft.com/office/drawing/2014/main" id="{08D83920-A253-A96B-704F-5C0D8194BF3C}"/>
              </a:ext>
            </a:extLst>
          </p:cNvPr>
          <p:cNvSpPr>
            <a:spLocks noGrp="1"/>
          </p:cNvSpPr>
          <p:nvPr>
            <p:ph idx="1"/>
          </p:nvPr>
        </p:nvSpPr>
        <p:spPr>
          <a:xfrm>
            <a:off x="838200" y="1776248"/>
            <a:ext cx="10515600" cy="4918842"/>
          </a:xfrm>
        </p:spPr>
        <p:txBody>
          <a:bodyPr/>
          <a:lstStyle/>
          <a:p>
            <a:r>
              <a:rPr lang="en-US" dirty="0"/>
              <a:t>Which movies contributed the most/least to revenue gain?   </a:t>
            </a:r>
          </a:p>
          <a:p>
            <a:pPr marL="0" indent="0">
              <a:buNone/>
            </a:pPr>
            <a:r>
              <a:rPr lang="en-US" dirty="0"/>
              <a:t> </a:t>
            </a:r>
          </a:p>
          <a:p>
            <a:r>
              <a:rPr lang="en-US" dirty="0"/>
              <a:t>What was the average rental duration for all videos?   </a:t>
            </a:r>
          </a:p>
          <a:p>
            <a:pPr marL="0" indent="0">
              <a:buNone/>
            </a:pPr>
            <a:endParaRPr lang="en-US" dirty="0"/>
          </a:p>
          <a:p>
            <a:r>
              <a:rPr lang="en-US" dirty="0"/>
              <a:t> Which countries are Rockbuster customers based in?  </a:t>
            </a:r>
          </a:p>
          <a:p>
            <a:pPr marL="0" indent="0">
              <a:buNone/>
            </a:pPr>
            <a:endParaRPr lang="en-US" dirty="0"/>
          </a:p>
          <a:p>
            <a:r>
              <a:rPr lang="en-US" dirty="0"/>
              <a:t>Do sales figures vary between geographic regions?</a:t>
            </a:r>
          </a:p>
          <a:p>
            <a:pPr marL="0" indent="0">
              <a:buNone/>
            </a:pPr>
            <a:endParaRPr lang="en-US" dirty="0"/>
          </a:p>
          <a:p>
            <a:r>
              <a:rPr lang="en-US" dirty="0"/>
              <a:t>Where are customers with a high lifetime value based?   </a:t>
            </a:r>
          </a:p>
        </p:txBody>
      </p:sp>
    </p:spTree>
    <p:extLst>
      <p:ext uri="{BB962C8B-B14F-4D97-AF65-F5344CB8AC3E}">
        <p14:creationId xmlns:p14="http://schemas.microsoft.com/office/powerpoint/2010/main" val="325163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0E533-674F-C593-9C9C-C540F8056791}"/>
              </a:ext>
            </a:extLst>
          </p:cNvPr>
          <p:cNvSpPr>
            <a:spLocks noGrp="1"/>
          </p:cNvSpPr>
          <p:nvPr>
            <p:ph type="title"/>
          </p:nvPr>
        </p:nvSpPr>
        <p:spPr>
          <a:xfrm>
            <a:off x="869731" y="123388"/>
            <a:ext cx="5636173" cy="927646"/>
          </a:xfrm>
        </p:spPr>
        <p:txBody>
          <a:bodyPr>
            <a:normAutofit fontScale="90000"/>
          </a:bodyPr>
          <a:lstStyle/>
          <a:p>
            <a:r>
              <a:rPr lang="en-US" b="1" dirty="0"/>
              <a:t>Revenue Gain Per Movie</a:t>
            </a:r>
          </a:p>
        </p:txBody>
      </p:sp>
      <p:graphicFrame>
        <p:nvGraphicFramePr>
          <p:cNvPr id="7" name="Content Placeholder 6">
            <a:extLst>
              <a:ext uri="{FF2B5EF4-FFF2-40B4-BE49-F238E27FC236}">
                <a16:creationId xmlns:a16="http://schemas.microsoft.com/office/drawing/2014/main" id="{554DA9CD-5B56-B580-A2F0-F1E7CA193AFE}"/>
              </a:ext>
            </a:extLst>
          </p:cNvPr>
          <p:cNvGraphicFramePr>
            <a:graphicFrameLocks noGrp="1"/>
          </p:cNvGraphicFramePr>
          <p:nvPr>
            <p:ph idx="1"/>
            <p:extLst>
              <p:ext uri="{D42A27DB-BD31-4B8C-83A1-F6EECF244321}">
                <p14:modId xmlns:p14="http://schemas.microsoft.com/office/powerpoint/2010/main" val="669183700"/>
              </p:ext>
            </p:extLst>
          </p:nvPr>
        </p:nvGraphicFramePr>
        <p:xfrm>
          <a:off x="493986" y="1439917"/>
          <a:ext cx="7367752" cy="529469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561347F0-6F0F-2EF5-A3E8-2C337CE894F4}"/>
              </a:ext>
            </a:extLst>
          </p:cNvPr>
          <p:cNvSpPr txBox="1"/>
          <p:nvPr/>
        </p:nvSpPr>
        <p:spPr>
          <a:xfrm>
            <a:off x="7935310" y="1439917"/>
            <a:ext cx="4035973" cy="3785652"/>
          </a:xfrm>
          <a:prstGeom prst="rect">
            <a:avLst/>
          </a:prstGeom>
          <a:noFill/>
        </p:spPr>
        <p:txBody>
          <a:bodyPr wrap="square" rtlCol="0">
            <a:spAutoFit/>
          </a:bodyPr>
          <a:lstStyle/>
          <a:p>
            <a:r>
              <a:rPr lang="en-US" sz="2000" dirty="0"/>
              <a:t>This bar chart shows the top 10 revenue-generating movies at Rockbuster. "Telegraph Voyage" leads the list with $215.75, earning significantly more than the others. "Zorro Ark" $199.72 and "Wife Turn" $198.73 follow closely, each generating just under $200. The revenue gap between the 2nd and 5th ranked films is narrow, showing a tight competition among mid-performers.</a:t>
            </a:r>
          </a:p>
        </p:txBody>
      </p:sp>
      <p:sp>
        <p:nvSpPr>
          <p:cNvPr id="10" name="TextBox 9">
            <a:extLst>
              <a:ext uri="{FF2B5EF4-FFF2-40B4-BE49-F238E27FC236}">
                <a16:creationId xmlns:a16="http://schemas.microsoft.com/office/drawing/2014/main" id="{F36A1A99-39D7-C764-B8AA-BA9E4069D976}"/>
              </a:ext>
            </a:extLst>
          </p:cNvPr>
          <p:cNvSpPr txBox="1"/>
          <p:nvPr/>
        </p:nvSpPr>
        <p:spPr>
          <a:xfrm>
            <a:off x="869731" y="914400"/>
            <a:ext cx="5087007" cy="369332"/>
          </a:xfrm>
          <a:prstGeom prst="rect">
            <a:avLst/>
          </a:prstGeom>
          <a:noFill/>
        </p:spPr>
        <p:txBody>
          <a:bodyPr wrap="square" rtlCol="0">
            <a:spAutoFit/>
          </a:bodyPr>
          <a:lstStyle/>
          <a:p>
            <a:r>
              <a:rPr lang="en-US" dirty="0"/>
              <a:t>Movies that contribute the most to revenue gain </a:t>
            </a:r>
          </a:p>
        </p:txBody>
      </p:sp>
    </p:spTree>
    <p:extLst>
      <p:ext uri="{BB962C8B-B14F-4D97-AF65-F5344CB8AC3E}">
        <p14:creationId xmlns:p14="http://schemas.microsoft.com/office/powerpoint/2010/main" val="862978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F30C-E120-FB3B-0A0D-479FFE22A195}"/>
              </a:ext>
            </a:extLst>
          </p:cNvPr>
          <p:cNvSpPr>
            <a:spLocks noGrp="1"/>
          </p:cNvSpPr>
          <p:nvPr>
            <p:ph type="title"/>
          </p:nvPr>
        </p:nvSpPr>
        <p:spPr>
          <a:xfrm>
            <a:off x="838200" y="365125"/>
            <a:ext cx="5436476" cy="664889"/>
          </a:xfrm>
        </p:spPr>
        <p:txBody>
          <a:bodyPr>
            <a:normAutofit fontScale="90000"/>
          </a:bodyPr>
          <a:lstStyle/>
          <a:p>
            <a:r>
              <a:rPr lang="en-US" b="1" dirty="0"/>
              <a:t>Revenue Gain Per Movie</a:t>
            </a:r>
            <a:endParaRPr lang="en-US" dirty="0"/>
          </a:p>
        </p:txBody>
      </p:sp>
      <p:graphicFrame>
        <p:nvGraphicFramePr>
          <p:cNvPr id="4" name="Content Placeholder 3">
            <a:extLst>
              <a:ext uri="{FF2B5EF4-FFF2-40B4-BE49-F238E27FC236}">
                <a16:creationId xmlns:a16="http://schemas.microsoft.com/office/drawing/2014/main" id="{C6420C9B-5ABD-EC9A-765E-657465BB17BD}"/>
              </a:ext>
            </a:extLst>
          </p:cNvPr>
          <p:cNvGraphicFramePr>
            <a:graphicFrameLocks noGrp="1"/>
          </p:cNvGraphicFramePr>
          <p:nvPr>
            <p:ph idx="1"/>
            <p:extLst>
              <p:ext uri="{D42A27DB-BD31-4B8C-83A1-F6EECF244321}">
                <p14:modId xmlns:p14="http://schemas.microsoft.com/office/powerpoint/2010/main" val="2518867976"/>
              </p:ext>
            </p:extLst>
          </p:nvPr>
        </p:nvGraphicFramePr>
        <p:xfrm>
          <a:off x="838200" y="1534510"/>
          <a:ext cx="7286297" cy="522364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A53D5798-152D-5DFD-1C25-BAB79F64BC98}"/>
              </a:ext>
            </a:extLst>
          </p:cNvPr>
          <p:cNvSpPr txBox="1"/>
          <p:nvPr/>
        </p:nvSpPr>
        <p:spPr>
          <a:xfrm>
            <a:off x="935420" y="996278"/>
            <a:ext cx="5339256" cy="369332"/>
          </a:xfrm>
          <a:prstGeom prst="rect">
            <a:avLst/>
          </a:prstGeom>
          <a:noFill/>
        </p:spPr>
        <p:txBody>
          <a:bodyPr wrap="square" rtlCol="0">
            <a:spAutoFit/>
          </a:bodyPr>
          <a:lstStyle/>
          <a:p>
            <a:r>
              <a:rPr lang="en-US" dirty="0"/>
              <a:t>Movies that contribute the Least to revenue gain </a:t>
            </a:r>
          </a:p>
        </p:txBody>
      </p:sp>
      <p:sp>
        <p:nvSpPr>
          <p:cNvPr id="8" name="TextBox 7">
            <a:extLst>
              <a:ext uri="{FF2B5EF4-FFF2-40B4-BE49-F238E27FC236}">
                <a16:creationId xmlns:a16="http://schemas.microsoft.com/office/drawing/2014/main" id="{65B84A1C-9633-F9A1-41CE-B13BFA4C53F8}"/>
              </a:ext>
            </a:extLst>
          </p:cNvPr>
          <p:cNvSpPr txBox="1"/>
          <p:nvPr/>
        </p:nvSpPr>
        <p:spPr>
          <a:xfrm>
            <a:off x="8211846" y="1677879"/>
            <a:ext cx="3586578" cy="2585323"/>
          </a:xfrm>
          <a:prstGeom prst="rect">
            <a:avLst/>
          </a:prstGeom>
          <a:noFill/>
        </p:spPr>
        <p:txBody>
          <a:bodyPr wrap="square" rtlCol="0">
            <a:spAutoFit/>
          </a:bodyPr>
          <a:lstStyle/>
          <a:p>
            <a:r>
              <a:rPr lang="en-US" dirty="0"/>
              <a:t>This bar chart highlights the lowest revenue-generating movies at Rockbuster. 'Texas Watch,' 'Oklahoma Jumanji,' and 'Duffel Apocalypse' are tied at the bottom, each earning just $5.94. Close behind is 'Freedom Cleopatra' with a slightly higher revenue of $5.95.</a:t>
            </a:r>
          </a:p>
        </p:txBody>
      </p:sp>
    </p:spTree>
    <p:extLst>
      <p:ext uri="{BB962C8B-B14F-4D97-AF65-F5344CB8AC3E}">
        <p14:creationId xmlns:p14="http://schemas.microsoft.com/office/powerpoint/2010/main" val="2615815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4AF2-C979-43F7-3381-EE189867FE46}"/>
              </a:ext>
            </a:extLst>
          </p:cNvPr>
          <p:cNvSpPr>
            <a:spLocks noGrp="1"/>
          </p:cNvSpPr>
          <p:nvPr>
            <p:ph type="title"/>
          </p:nvPr>
        </p:nvSpPr>
        <p:spPr>
          <a:xfrm>
            <a:off x="772297" y="711675"/>
            <a:ext cx="6155724" cy="681080"/>
          </a:xfrm>
        </p:spPr>
        <p:txBody>
          <a:bodyPr>
            <a:normAutofit fontScale="90000"/>
          </a:bodyPr>
          <a:lstStyle/>
          <a:p>
            <a:r>
              <a:rPr lang="en-US" dirty="0"/>
              <a:t>Revenue by rating and genre</a:t>
            </a:r>
          </a:p>
        </p:txBody>
      </p:sp>
      <p:sp>
        <p:nvSpPr>
          <p:cNvPr id="3" name="Content Placeholder 2">
            <a:extLst>
              <a:ext uri="{FF2B5EF4-FFF2-40B4-BE49-F238E27FC236}">
                <a16:creationId xmlns:a16="http://schemas.microsoft.com/office/drawing/2014/main" id="{1911EB68-2F43-9E19-087A-AB8D2FC78CA0}"/>
              </a:ext>
            </a:extLst>
          </p:cNvPr>
          <p:cNvSpPr>
            <a:spLocks noGrp="1"/>
          </p:cNvSpPr>
          <p:nvPr>
            <p:ph idx="1"/>
          </p:nvPr>
        </p:nvSpPr>
        <p:spPr>
          <a:xfrm>
            <a:off x="-1" y="1438446"/>
            <a:ext cx="11353800" cy="4047954"/>
          </a:xfrm>
        </p:spPr>
        <p:txBody>
          <a:bodyPr/>
          <a:lstStyle/>
          <a:p>
            <a:pPr marL="0" indent="0">
              <a:buNone/>
            </a:pPr>
            <a:r>
              <a:rPr lang="en-US" dirty="0"/>
              <a:t> </a:t>
            </a:r>
          </a:p>
        </p:txBody>
      </p:sp>
      <p:graphicFrame>
        <p:nvGraphicFramePr>
          <p:cNvPr id="4" name="Chart 3">
            <a:extLst>
              <a:ext uri="{FF2B5EF4-FFF2-40B4-BE49-F238E27FC236}">
                <a16:creationId xmlns:a16="http://schemas.microsoft.com/office/drawing/2014/main" id="{8261951F-9A4C-9E62-CBBE-2724E85D7591}"/>
              </a:ext>
            </a:extLst>
          </p:cNvPr>
          <p:cNvGraphicFramePr>
            <a:graphicFrameLocks/>
          </p:cNvGraphicFramePr>
          <p:nvPr>
            <p:extLst>
              <p:ext uri="{D42A27DB-BD31-4B8C-83A1-F6EECF244321}">
                <p14:modId xmlns:p14="http://schemas.microsoft.com/office/powerpoint/2010/main" val="3841082815"/>
              </p:ext>
            </p:extLst>
          </p:nvPr>
        </p:nvGraphicFramePr>
        <p:xfrm>
          <a:off x="-1" y="1982142"/>
          <a:ext cx="4489623" cy="365253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018F24ED-EE04-C2C9-B7CB-15E6025DFF57}"/>
              </a:ext>
            </a:extLst>
          </p:cNvPr>
          <p:cNvGraphicFramePr>
            <a:graphicFrameLocks/>
          </p:cNvGraphicFramePr>
          <p:nvPr>
            <p:extLst>
              <p:ext uri="{D42A27DB-BD31-4B8C-83A1-F6EECF244321}">
                <p14:modId xmlns:p14="http://schemas.microsoft.com/office/powerpoint/2010/main" val="1537084780"/>
              </p:ext>
            </p:extLst>
          </p:nvPr>
        </p:nvGraphicFramePr>
        <p:xfrm>
          <a:off x="5059989" y="1438445"/>
          <a:ext cx="7132011" cy="4047953"/>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A92C1DDB-8837-1184-5358-90BE7C5406BF}"/>
              </a:ext>
            </a:extLst>
          </p:cNvPr>
          <p:cNvSpPr txBox="1"/>
          <p:nvPr/>
        </p:nvSpPr>
        <p:spPr>
          <a:xfrm>
            <a:off x="581746" y="5577781"/>
            <a:ext cx="4085968" cy="1200329"/>
          </a:xfrm>
          <a:prstGeom prst="rect">
            <a:avLst/>
          </a:prstGeom>
          <a:noFill/>
        </p:spPr>
        <p:txBody>
          <a:bodyPr wrap="square" rtlCol="0">
            <a:spAutoFit/>
          </a:bodyPr>
          <a:lstStyle/>
          <a:p>
            <a:r>
              <a:rPr lang="en-US" dirty="0"/>
              <a:t>The bar chart shows that PG-13 films generated the highest revenue, with NC-17 films following closely behind.</a:t>
            </a:r>
          </a:p>
          <a:p>
            <a:r>
              <a:rPr lang="en-US" dirty="0"/>
              <a:t>G rated films has the lowest revenue.</a:t>
            </a:r>
          </a:p>
        </p:txBody>
      </p:sp>
      <p:sp>
        <p:nvSpPr>
          <p:cNvPr id="7" name="TextBox 6">
            <a:extLst>
              <a:ext uri="{FF2B5EF4-FFF2-40B4-BE49-F238E27FC236}">
                <a16:creationId xmlns:a16="http://schemas.microsoft.com/office/drawing/2014/main" id="{A76C35B0-2CBD-D40F-A4CC-B9B288F1D33E}"/>
              </a:ext>
            </a:extLst>
          </p:cNvPr>
          <p:cNvSpPr txBox="1"/>
          <p:nvPr/>
        </p:nvSpPr>
        <p:spPr>
          <a:xfrm>
            <a:off x="6447692" y="5577781"/>
            <a:ext cx="4540739" cy="1200329"/>
          </a:xfrm>
          <a:prstGeom prst="rect">
            <a:avLst/>
          </a:prstGeom>
          <a:noFill/>
        </p:spPr>
        <p:txBody>
          <a:bodyPr wrap="square" rtlCol="0">
            <a:spAutoFit/>
          </a:bodyPr>
          <a:lstStyle/>
          <a:p>
            <a:r>
              <a:rPr lang="en-US" dirty="0"/>
              <a:t>The bar chart shows that the Sports genre generated the highest revenue, followed by Sci-Fi and Animation. While Thriller has the lowest genre revenue.</a:t>
            </a:r>
          </a:p>
        </p:txBody>
      </p:sp>
    </p:spTree>
    <p:extLst>
      <p:ext uri="{BB962C8B-B14F-4D97-AF65-F5344CB8AC3E}">
        <p14:creationId xmlns:p14="http://schemas.microsoft.com/office/powerpoint/2010/main" val="548577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48ECB-DB16-5FC7-4E56-84EBAB97F10A}"/>
              </a:ext>
            </a:extLst>
          </p:cNvPr>
          <p:cNvSpPr>
            <a:spLocks noGrp="1"/>
          </p:cNvSpPr>
          <p:nvPr>
            <p:ph type="title"/>
          </p:nvPr>
        </p:nvSpPr>
        <p:spPr>
          <a:xfrm>
            <a:off x="838200" y="365126"/>
            <a:ext cx="6228425" cy="629174"/>
          </a:xfrm>
        </p:spPr>
        <p:txBody>
          <a:bodyPr>
            <a:normAutofit fontScale="90000"/>
          </a:bodyPr>
          <a:lstStyle/>
          <a:p>
            <a:r>
              <a:rPr lang="en-US" b="1" dirty="0"/>
              <a:t>DESCRIPTIVE STATISTIC </a:t>
            </a:r>
          </a:p>
        </p:txBody>
      </p:sp>
      <p:sp>
        <p:nvSpPr>
          <p:cNvPr id="3" name="Content Placeholder 2">
            <a:extLst>
              <a:ext uri="{FF2B5EF4-FFF2-40B4-BE49-F238E27FC236}">
                <a16:creationId xmlns:a16="http://schemas.microsoft.com/office/drawing/2014/main" id="{3319B398-2B2D-956A-09E2-1DDECC868B9A}"/>
              </a:ext>
            </a:extLst>
          </p:cNvPr>
          <p:cNvSpPr>
            <a:spLocks noGrp="1"/>
          </p:cNvSpPr>
          <p:nvPr>
            <p:ph idx="1"/>
          </p:nvPr>
        </p:nvSpPr>
        <p:spPr>
          <a:xfrm>
            <a:off x="320431" y="1101969"/>
            <a:ext cx="9855200" cy="5142523"/>
          </a:xfrm>
        </p:spPr>
        <p:txBody>
          <a:bodyPr/>
          <a:lstStyle/>
          <a:p>
            <a:pPr marL="0" indent="0">
              <a:buNone/>
            </a:pPr>
            <a:r>
              <a:rPr lang="en-US" dirty="0"/>
              <a:t>  </a:t>
            </a:r>
          </a:p>
        </p:txBody>
      </p:sp>
      <p:sp>
        <p:nvSpPr>
          <p:cNvPr id="7" name="Rectangle 6">
            <a:extLst>
              <a:ext uri="{FF2B5EF4-FFF2-40B4-BE49-F238E27FC236}">
                <a16:creationId xmlns:a16="http://schemas.microsoft.com/office/drawing/2014/main" id="{23FDDAC7-3478-0E38-371E-4D229727792D}"/>
              </a:ext>
            </a:extLst>
          </p:cNvPr>
          <p:cNvSpPr/>
          <p:nvPr/>
        </p:nvSpPr>
        <p:spPr>
          <a:xfrm>
            <a:off x="762502" y="1229269"/>
            <a:ext cx="2832787" cy="21912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            MINIMUM</a:t>
            </a:r>
          </a:p>
          <a:p>
            <a:r>
              <a:rPr lang="en-US" dirty="0"/>
              <a:t>Rental duration = 3days</a:t>
            </a:r>
          </a:p>
          <a:p>
            <a:r>
              <a:rPr lang="en-US" dirty="0"/>
              <a:t>Rental Rate = $0.99</a:t>
            </a:r>
          </a:p>
          <a:p>
            <a:r>
              <a:rPr lang="en-US" dirty="0"/>
              <a:t>Film Length = 46mins</a:t>
            </a:r>
          </a:p>
          <a:p>
            <a:r>
              <a:rPr lang="en-US" dirty="0"/>
              <a:t>Replacement cost = $9.99</a:t>
            </a:r>
          </a:p>
        </p:txBody>
      </p:sp>
      <p:sp>
        <p:nvSpPr>
          <p:cNvPr id="8" name="Rectangle 7">
            <a:extLst>
              <a:ext uri="{FF2B5EF4-FFF2-40B4-BE49-F238E27FC236}">
                <a16:creationId xmlns:a16="http://schemas.microsoft.com/office/drawing/2014/main" id="{99BF2026-B138-6483-199A-F1EDC6962528}"/>
              </a:ext>
            </a:extLst>
          </p:cNvPr>
          <p:cNvSpPr/>
          <p:nvPr/>
        </p:nvSpPr>
        <p:spPr>
          <a:xfrm>
            <a:off x="3595289" y="3420535"/>
            <a:ext cx="2999602" cy="21912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                AVERAGE</a:t>
            </a:r>
          </a:p>
          <a:p>
            <a:r>
              <a:rPr lang="en-US" dirty="0"/>
              <a:t>Rental duration = 5days</a:t>
            </a:r>
          </a:p>
          <a:p>
            <a:r>
              <a:rPr lang="en-US" dirty="0"/>
              <a:t>Rental Rate = $2.98</a:t>
            </a:r>
          </a:p>
          <a:p>
            <a:r>
              <a:rPr lang="en-US" dirty="0"/>
              <a:t>Film Length =115.27mins</a:t>
            </a:r>
          </a:p>
          <a:p>
            <a:r>
              <a:rPr lang="en-US" dirty="0"/>
              <a:t>Replacement cost = $19.98</a:t>
            </a:r>
          </a:p>
        </p:txBody>
      </p:sp>
      <p:sp>
        <p:nvSpPr>
          <p:cNvPr id="9" name="Rectangle 8">
            <a:extLst>
              <a:ext uri="{FF2B5EF4-FFF2-40B4-BE49-F238E27FC236}">
                <a16:creationId xmlns:a16="http://schemas.microsoft.com/office/drawing/2014/main" id="{3E5DD0DF-398A-6BBA-BF87-7BB1AAEB620B}"/>
              </a:ext>
            </a:extLst>
          </p:cNvPr>
          <p:cNvSpPr/>
          <p:nvPr/>
        </p:nvSpPr>
        <p:spPr>
          <a:xfrm>
            <a:off x="6594891" y="1229270"/>
            <a:ext cx="2939877" cy="21912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            MAXIMUM</a:t>
            </a:r>
          </a:p>
          <a:p>
            <a:r>
              <a:rPr lang="en-US" dirty="0"/>
              <a:t>Rental duration = 7days</a:t>
            </a:r>
          </a:p>
          <a:p>
            <a:r>
              <a:rPr lang="en-US" dirty="0"/>
              <a:t>Rental Rate = $4.99</a:t>
            </a:r>
          </a:p>
          <a:p>
            <a:r>
              <a:rPr lang="en-US" dirty="0"/>
              <a:t>Film Length = $185mins</a:t>
            </a:r>
          </a:p>
          <a:p>
            <a:r>
              <a:rPr lang="en-US" dirty="0"/>
              <a:t>Replacement cost = $29.99</a:t>
            </a:r>
          </a:p>
        </p:txBody>
      </p:sp>
      <p:sp>
        <p:nvSpPr>
          <p:cNvPr id="10" name="TextBox 9">
            <a:extLst>
              <a:ext uri="{FF2B5EF4-FFF2-40B4-BE49-F238E27FC236}">
                <a16:creationId xmlns:a16="http://schemas.microsoft.com/office/drawing/2014/main" id="{8664BACA-73D8-A421-EE54-44D0BBDEB9A6}"/>
              </a:ext>
            </a:extLst>
          </p:cNvPr>
          <p:cNvSpPr txBox="1"/>
          <p:nvPr/>
        </p:nvSpPr>
        <p:spPr>
          <a:xfrm>
            <a:off x="6674338" y="3640426"/>
            <a:ext cx="4509477" cy="1477328"/>
          </a:xfrm>
          <a:prstGeom prst="rect">
            <a:avLst/>
          </a:prstGeom>
          <a:noFill/>
        </p:spPr>
        <p:txBody>
          <a:bodyPr wrap="square" rtlCol="0">
            <a:spAutoFit/>
          </a:bodyPr>
          <a:lstStyle/>
          <a:p>
            <a:r>
              <a:rPr lang="en-US" dirty="0"/>
              <a:t>On average, Rockbuster videos are rented for 5 days, with a typical rental rate of $2.98. The average film length is approximately 115.27 minutes, and the average replacement cost stands at $19.98.</a:t>
            </a:r>
          </a:p>
        </p:txBody>
      </p:sp>
    </p:spTree>
    <p:extLst>
      <p:ext uri="{BB962C8B-B14F-4D97-AF65-F5344CB8AC3E}">
        <p14:creationId xmlns:p14="http://schemas.microsoft.com/office/powerpoint/2010/main" val="2575996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E2F1D-08CA-A8B4-91BE-1BF18F14742F}"/>
              </a:ext>
            </a:extLst>
          </p:cNvPr>
          <p:cNvSpPr>
            <a:spLocks noGrp="1"/>
          </p:cNvSpPr>
          <p:nvPr>
            <p:ph type="title"/>
          </p:nvPr>
        </p:nvSpPr>
        <p:spPr>
          <a:xfrm>
            <a:off x="0" y="362465"/>
            <a:ext cx="9394092" cy="840259"/>
          </a:xfrm>
        </p:spPr>
        <p:txBody>
          <a:bodyPr>
            <a:normAutofit/>
          </a:bodyPr>
          <a:lstStyle/>
          <a:p>
            <a:r>
              <a:rPr lang="en-US" sz="2800" b="1" dirty="0"/>
              <a:t>Top 10 countries where Rockbuster has the most customers.</a:t>
            </a:r>
          </a:p>
        </p:txBody>
      </p:sp>
      <p:pic>
        <p:nvPicPr>
          <p:cNvPr id="5" name="Content Placeholder 4">
            <a:extLst>
              <a:ext uri="{FF2B5EF4-FFF2-40B4-BE49-F238E27FC236}">
                <a16:creationId xmlns:a16="http://schemas.microsoft.com/office/drawing/2014/main" id="{0D415D2C-D288-26DE-3F0D-25B02EC553B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1112106"/>
            <a:ext cx="8822724" cy="5078313"/>
          </a:xfrm>
          <a:prstGeom prst="rect">
            <a:avLst/>
          </a:prstGeom>
        </p:spPr>
      </p:pic>
      <p:sp>
        <p:nvSpPr>
          <p:cNvPr id="6" name="TextBox 5">
            <a:extLst>
              <a:ext uri="{FF2B5EF4-FFF2-40B4-BE49-F238E27FC236}">
                <a16:creationId xmlns:a16="http://schemas.microsoft.com/office/drawing/2014/main" id="{9297D7D3-6AA1-2232-FC3D-94334FCE8789}"/>
              </a:ext>
            </a:extLst>
          </p:cNvPr>
          <p:cNvSpPr txBox="1"/>
          <p:nvPr/>
        </p:nvSpPr>
        <p:spPr>
          <a:xfrm>
            <a:off x="8822724" y="1112107"/>
            <a:ext cx="3262184" cy="5078313"/>
          </a:xfrm>
          <a:prstGeom prst="rect">
            <a:avLst/>
          </a:prstGeom>
          <a:noFill/>
        </p:spPr>
        <p:txBody>
          <a:bodyPr wrap="square" rtlCol="0">
            <a:spAutoFit/>
          </a:bodyPr>
          <a:lstStyle/>
          <a:p>
            <a:r>
              <a:rPr lang="en-US" dirty="0"/>
              <a:t>This map highlights the top 10 countries with the highest number of Rockbuster customers. India ranks first with 60 customers, followed by China with 53. Japan and Mexico have 31 and 30 customers respectively, while Brazil and Russia has 28 customer each. Turkey and Indonesia round out the list with 15 and 14 customers, respectively. The distribution reveals Rockbuster’s strong customer base in Asia and Latin America, with India and China representing the largest markets among the top 10.</a:t>
            </a:r>
          </a:p>
        </p:txBody>
      </p:sp>
      <p:sp>
        <p:nvSpPr>
          <p:cNvPr id="7" name="TextBox 6">
            <a:extLst>
              <a:ext uri="{FF2B5EF4-FFF2-40B4-BE49-F238E27FC236}">
                <a16:creationId xmlns:a16="http://schemas.microsoft.com/office/drawing/2014/main" id="{4F10793E-FFB8-9539-9145-69F4C2888A49}"/>
              </a:ext>
            </a:extLst>
          </p:cNvPr>
          <p:cNvSpPr txBox="1"/>
          <p:nvPr/>
        </p:nvSpPr>
        <p:spPr>
          <a:xfrm>
            <a:off x="107092" y="6232610"/>
            <a:ext cx="8583827" cy="646331"/>
          </a:xfrm>
          <a:prstGeom prst="rect">
            <a:avLst/>
          </a:prstGeom>
          <a:noFill/>
        </p:spPr>
        <p:txBody>
          <a:bodyPr wrap="square" rtlCol="0">
            <a:spAutoFit/>
          </a:bodyPr>
          <a:lstStyle/>
          <a:p>
            <a:r>
              <a:rPr lang="en-US" dirty="0">
                <a:hlinkClick r:id="rId3"/>
              </a:rPr>
              <a:t>https://public.tableau.com/app/profile/oluwole.oni2300/viz/Top10rockbustercountry/Sheet1?publish=yes</a:t>
            </a:r>
            <a:endParaRPr lang="en-US" dirty="0"/>
          </a:p>
        </p:txBody>
      </p:sp>
    </p:spTree>
    <p:extLst>
      <p:ext uri="{BB962C8B-B14F-4D97-AF65-F5344CB8AC3E}">
        <p14:creationId xmlns:p14="http://schemas.microsoft.com/office/powerpoint/2010/main" val="209536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4FDF2-C903-5330-FE15-DA8524307EA4}"/>
              </a:ext>
            </a:extLst>
          </p:cNvPr>
          <p:cNvSpPr>
            <a:spLocks noGrp="1"/>
          </p:cNvSpPr>
          <p:nvPr>
            <p:ph type="title"/>
          </p:nvPr>
        </p:nvSpPr>
        <p:spPr>
          <a:xfrm>
            <a:off x="74141" y="365125"/>
            <a:ext cx="8031891" cy="837597"/>
          </a:xfrm>
        </p:spPr>
        <p:txBody>
          <a:bodyPr>
            <a:normAutofit/>
          </a:bodyPr>
          <a:lstStyle/>
          <a:p>
            <a:r>
              <a:rPr lang="en-US" sz="2800" b="1" dirty="0"/>
              <a:t>Do sales figures vary between geographic regions?</a:t>
            </a:r>
          </a:p>
        </p:txBody>
      </p:sp>
      <p:sp>
        <p:nvSpPr>
          <p:cNvPr id="3" name="Content Placeholder 2">
            <a:extLst>
              <a:ext uri="{FF2B5EF4-FFF2-40B4-BE49-F238E27FC236}">
                <a16:creationId xmlns:a16="http://schemas.microsoft.com/office/drawing/2014/main" id="{6BE92D58-4809-D288-D58F-D1B3045449E2}"/>
              </a:ext>
            </a:extLst>
          </p:cNvPr>
          <p:cNvSpPr>
            <a:spLocks noGrp="1"/>
          </p:cNvSpPr>
          <p:nvPr>
            <p:ph idx="1"/>
          </p:nvPr>
        </p:nvSpPr>
        <p:spPr>
          <a:xfrm>
            <a:off x="928816" y="1916241"/>
            <a:ext cx="10515600" cy="4351338"/>
          </a:xfrm>
        </p:spPr>
        <p:txBody>
          <a:bodyPr/>
          <a:lstStyle/>
          <a:p>
            <a:pPr marL="0" indent="0">
              <a:buNone/>
            </a:pPr>
            <a:r>
              <a:rPr lang="en-US" dirty="0"/>
              <a:t> </a:t>
            </a:r>
          </a:p>
        </p:txBody>
      </p:sp>
      <p:pic>
        <p:nvPicPr>
          <p:cNvPr id="5" name="Picture 4" descr="A map of the world">
            <a:extLst>
              <a:ext uri="{FF2B5EF4-FFF2-40B4-BE49-F238E27FC236}">
                <a16:creationId xmlns:a16="http://schemas.microsoft.com/office/drawing/2014/main" id="{C4A46BF5-23FA-2716-1463-C53E25749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28584"/>
            <a:ext cx="9069859" cy="4966983"/>
          </a:xfrm>
          <a:prstGeom prst="rect">
            <a:avLst/>
          </a:prstGeom>
        </p:spPr>
      </p:pic>
      <p:sp>
        <p:nvSpPr>
          <p:cNvPr id="6" name="TextBox 5">
            <a:extLst>
              <a:ext uri="{FF2B5EF4-FFF2-40B4-BE49-F238E27FC236}">
                <a16:creationId xmlns:a16="http://schemas.microsoft.com/office/drawing/2014/main" id="{BC2ECD71-84E5-AA8E-7FAC-630895BC2F6E}"/>
              </a:ext>
            </a:extLst>
          </p:cNvPr>
          <p:cNvSpPr txBox="1"/>
          <p:nvPr/>
        </p:nvSpPr>
        <p:spPr>
          <a:xfrm>
            <a:off x="0" y="6169708"/>
            <a:ext cx="8196649" cy="646331"/>
          </a:xfrm>
          <a:prstGeom prst="rect">
            <a:avLst/>
          </a:prstGeom>
          <a:noFill/>
        </p:spPr>
        <p:txBody>
          <a:bodyPr wrap="square" rtlCol="0">
            <a:spAutoFit/>
          </a:bodyPr>
          <a:lstStyle/>
          <a:p>
            <a:r>
              <a:rPr lang="en-US" dirty="0">
                <a:hlinkClick r:id="rId3"/>
              </a:rPr>
              <a:t>https://public.tableau.com/app/profile/oluwole.oni2300/viz/Salesbyregion_17544526862710/Sheet2?publish=yes</a:t>
            </a:r>
            <a:endParaRPr lang="en-US" dirty="0"/>
          </a:p>
        </p:txBody>
      </p:sp>
      <p:sp>
        <p:nvSpPr>
          <p:cNvPr id="8" name="TextBox 7">
            <a:extLst>
              <a:ext uri="{FF2B5EF4-FFF2-40B4-BE49-F238E27FC236}">
                <a16:creationId xmlns:a16="http://schemas.microsoft.com/office/drawing/2014/main" id="{4FC5CBA6-98BA-7CA5-C0D5-2CAABD8B5C21}"/>
              </a:ext>
            </a:extLst>
          </p:cNvPr>
          <p:cNvSpPr txBox="1"/>
          <p:nvPr/>
        </p:nvSpPr>
        <p:spPr>
          <a:xfrm>
            <a:off x="8748584" y="1268627"/>
            <a:ext cx="3229232" cy="4401205"/>
          </a:xfrm>
          <a:prstGeom prst="rect">
            <a:avLst/>
          </a:prstGeom>
          <a:noFill/>
        </p:spPr>
        <p:txBody>
          <a:bodyPr wrap="square" rtlCol="0">
            <a:spAutoFit/>
          </a:bodyPr>
          <a:lstStyle/>
          <a:p>
            <a:r>
              <a:rPr lang="en-US" sz="1400" dirty="0"/>
              <a:t>India leads Asian regions with total sales followed by China and Japan. </a:t>
            </a:r>
          </a:p>
          <a:p>
            <a:r>
              <a:rPr lang="en-US" sz="1400" dirty="0"/>
              <a:t>The United States top sales in the Americas, followed by Mexico Combined.</a:t>
            </a:r>
          </a:p>
          <a:p>
            <a:r>
              <a:rPr lang="en-US" sz="1400" dirty="0"/>
              <a:t>Brazil leads in total sales, indicating moderate performance in the South American market.</a:t>
            </a:r>
          </a:p>
          <a:p>
            <a:r>
              <a:rPr lang="en-US" sz="1400" dirty="0"/>
              <a:t>Russia and Turkey comparatively lower figures highlight that Europe and surrounding regions lag behind Asia and North America in sales performance.</a:t>
            </a:r>
          </a:p>
          <a:p>
            <a:r>
              <a:rPr lang="en-US" sz="1400" dirty="0"/>
              <a:t>Overall, these regional differences in total sales clearly demonstrate that Rockbuster’s revenue varies significantly across geographic markets. This insight underscores the importance of region-specific strategies to maximize market potential</a:t>
            </a:r>
          </a:p>
        </p:txBody>
      </p:sp>
    </p:spTree>
    <p:extLst>
      <p:ext uri="{BB962C8B-B14F-4D97-AF65-F5344CB8AC3E}">
        <p14:creationId xmlns:p14="http://schemas.microsoft.com/office/powerpoint/2010/main" val="2115664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8001-E12B-7AB3-597D-2D2A7069F092}"/>
              </a:ext>
            </a:extLst>
          </p:cNvPr>
          <p:cNvSpPr>
            <a:spLocks noGrp="1"/>
          </p:cNvSpPr>
          <p:nvPr>
            <p:ph type="title"/>
          </p:nvPr>
        </p:nvSpPr>
        <p:spPr>
          <a:xfrm>
            <a:off x="838200" y="378941"/>
            <a:ext cx="8322276" cy="1112108"/>
          </a:xfrm>
        </p:spPr>
        <p:txBody>
          <a:bodyPr>
            <a:normAutofit/>
          </a:bodyPr>
          <a:lstStyle/>
          <a:p>
            <a:r>
              <a:rPr lang="en-US" sz="2700" b="1" dirty="0"/>
              <a:t>Where are customers with a high lifetime value based?   </a:t>
            </a:r>
            <a:br>
              <a:rPr lang="en-US" dirty="0"/>
            </a:br>
            <a:endParaRPr lang="en-US" dirty="0"/>
          </a:p>
        </p:txBody>
      </p:sp>
      <p:sp>
        <p:nvSpPr>
          <p:cNvPr id="3" name="Content Placeholder 2">
            <a:extLst>
              <a:ext uri="{FF2B5EF4-FFF2-40B4-BE49-F238E27FC236}">
                <a16:creationId xmlns:a16="http://schemas.microsoft.com/office/drawing/2014/main" id="{4A25AF66-DA78-4570-0A30-0AAD366FBB94}"/>
              </a:ext>
            </a:extLst>
          </p:cNvPr>
          <p:cNvSpPr>
            <a:spLocks noGrp="1"/>
          </p:cNvSpPr>
          <p:nvPr>
            <p:ph idx="1"/>
          </p:nvPr>
        </p:nvSpPr>
        <p:spPr>
          <a:xfrm>
            <a:off x="838200" y="1367481"/>
            <a:ext cx="8692979" cy="4809482"/>
          </a:xfrm>
        </p:spPr>
        <p:txBody>
          <a:bodyPr>
            <a:normAutofit/>
          </a:bodyPr>
          <a:lstStyle/>
          <a:p>
            <a:pPr marL="0" indent="0">
              <a:buNone/>
            </a:pPr>
            <a:r>
              <a:rPr lang="en-US" dirty="0"/>
              <a:t> </a:t>
            </a:r>
          </a:p>
        </p:txBody>
      </p:sp>
      <p:graphicFrame>
        <p:nvGraphicFramePr>
          <p:cNvPr id="4" name="Chart 3">
            <a:extLst>
              <a:ext uri="{FF2B5EF4-FFF2-40B4-BE49-F238E27FC236}">
                <a16:creationId xmlns:a16="http://schemas.microsoft.com/office/drawing/2014/main" id="{AD740D7D-C30A-71A3-68A8-47704E818A82}"/>
              </a:ext>
            </a:extLst>
          </p:cNvPr>
          <p:cNvGraphicFramePr>
            <a:graphicFrameLocks/>
          </p:cNvGraphicFramePr>
          <p:nvPr>
            <p:extLst>
              <p:ext uri="{D42A27DB-BD31-4B8C-83A1-F6EECF244321}">
                <p14:modId xmlns:p14="http://schemas.microsoft.com/office/powerpoint/2010/main" val="3711313264"/>
              </p:ext>
            </p:extLst>
          </p:nvPr>
        </p:nvGraphicFramePr>
        <p:xfrm>
          <a:off x="1" y="1252151"/>
          <a:ext cx="9531178"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E91C1C27-C81B-785B-A533-D9DC8A42CB3F}"/>
              </a:ext>
            </a:extLst>
          </p:cNvPr>
          <p:cNvSpPr txBox="1"/>
          <p:nvPr/>
        </p:nvSpPr>
        <p:spPr>
          <a:xfrm>
            <a:off x="9531179" y="1491049"/>
            <a:ext cx="2553729" cy="1200329"/>
          </a:xfrm>
          <a:prstGeom prst="rect">
            <a:avLst/>
          </a:prstGeom>
          <a:noFill/>
        </p:spPr>
        <p:txBody>
          <a:bodyPr wrap="square" rtlCol="0">
            <a:spAutoFit/>
          </a:bodyPr>
          <a:lstStyle/>
          <a:p>
            <a:r>
              <a:rPr lang="en-US" dirty="0"/>
              <a:t>The high lifetime value  customers are primarily based in the countries displayed in the chart.</a:t>
            </a:r>
          </a:p>
        </p:txBody>
      </p:sp>
    </p:spTree>
    <p:extLst>
      <p:ext uri="{BB962C8B-B14F-4D97-AF65-F5344CB8AC3E}">
        <p14:creationId xmlns:p14="http://schemas.microsoft.com/office/powerpoint/2010/main" val="3148080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3FDCB-247C-E264-AAD1-12A09DC00C79}"/>
              </a:ext>
            </a:extLst>
          </p:cNvPr>
          <p:cNvSpPr>
            <a:spLocks noGrp="1"/>
          </p:cNvSpPr>
          <p:nvPr>
            <p:ph type="title"/>
          </p:nvPr>
        </p:nvSpPr>
        <p:spPr>
          <a:xfrm>
            <a:off x="838200" y="365125"/>
            <a:ext cx="10515600" cy="664605"/>
          </a:xfrm>
        </p:spPr>
        <p:txBody>
          <a:bodyPr>
            <a:normAutofit fontScale="90000"/>
          </a:bodyPr>
          <a:lstStyle/>
          <a:p>
            <a:r>
              <a:rPr lang="en-US" b="1" dirty="0">
                <a:solidFill>
                  <a:schemeClr val="accent1"/>
                </a:solidFill>
              </a:rPr>
              <a:t>KEY INSIGHT</a:t>
            </a:r>
          </a:p>
        </p:txBody>
      </p:sp>
      <p:sp>
        <p:nvSpPr>
          <p:cNvPr id="3" name="Content Placeholder 2">
            <a:extLst>
              <a:ext uri="{FF2B5EF4-FFF2-40B4-BE49-F238E27FC236}">
                <a16:creationId xmlns:a16="http://schemas.microsoft.com/office/drawing/2014/main" id="{3B62914C-1EA9-06B3-1777-E92D2A878B26}"/>
              </a:ext>
            </a:extLst>
          </p:cNvPr>
          <p:cNvSpPr>
            <a:spLocks noGrp="1"/>
          </p:cNvSpPr>
          <p:nvPr>
            <p:ph idx="1"/>
          </p:nvPr>
        </p:nvSpPr>
        <p:spPr>
          <a:xfrm>
            <a:off x="838200" y="1400432"/>
            <a:ext cx="10515600" cy="4015630"/>
          </a:xfrm>
        </p:spPr>
        <p:txBody>
          <a:bodyPr>
            <a:normAutofit/>
          </a:bodyPr>
          <a:lstStyle/>
          <a:p>
            <a:pPr marL="0" lvl="0" indent="0">
              <a:lnSpc>
                <a:spcPct val="100000"/>
              </a:lnSpc>
              <a:buNone/>
            </a:pPr>
            <a:r>
              <a:rPr lang="en-US" sz="1800" b="1" dirty="0">
                <a:latin typeface="Calibri" panose="020F0502020204030204" pitchFamily="34" charset="0"/>
                <a:ea typeface="Calibri" panose="020F0502020204030204" pitchFamily="34" charset="0"/>
                <a:cs typeface="Calibri" panose="020F0502020204030204" pitchFamily="34" charset="0"/>
              </a:rPr>
              <a:t>1. Revenue Contributors: </a:t>
            </a:r>
            <a:r>
              <a:rPr lang="en-US" sz="1800" dirty="0">
                <a:latin typeface="Calibri" panose="020F0502020204030204" pitchFamily="34" charset="0"/>
                <a:ea typeface="Calibri" panose="020F0502020204030204" pitchFamily="34" charset="0"/>
                <a:cs typeface="Calibri" panose="020F0502020204030204" pitchFamily="34" charset="0"/>
              </a:rPr>
              <a:t>The analysis highlights "Telegraph Voyage" as the top revenue-generating movie, followed closely by other PG-13 rated films and titles within the Sports genre, which also performed exceptionally well. In contrast, several movies such as "Texas Watch" and "Oklahoma Jumanji" earned as little as $5.94, suggesting they may be outdated or lack audience appeal.</a:t>
            </a:r>
          </a:p>
          <a:p>
            <a:pPr marL="0" lvl="0" indent="0">
              <a:lnSpc>
                <a:spcPct val="100000"/>
              </a:lnSpc>
              <a:buNone/>
            </a:pPr>
            <a:r>
              <a:rPr lang="en-US" sz="1800" b="1" dirty="0">
                <a:latin typeface="Calibri" panose="020F0502020204030204" pitchFamily="34" charset="0"/>
                <a:ea typeface="Calibri" panose="020F0502020204030204" pitchFamily="34" charset="0"/>
                <a:cs typeface="Calibri" panose="020F0502020204030204" pitchFamily="34" charset="0"/>
              </a:rPr>
              <a:t>2. Customer Distribution: </a:t>
            </a:r>
            <a:r>
              <a:rPr lang="en-US" sz="1800" dirty="0">
                <a:latin typeface="Calibri" panose="020F0502020204030204" pitchFamily="34" charset="0"/>
                <a:ea typeface="Calibri" panose="020F0502020204030204" pitchFamily="34" charset="0"/>
                <a:cs typeface="Calibri" panose="020F0502020204030204" pitchFamily="34" charset="0"/>
              </a:rPr>
              <a:t>Rockbuster’s customer base is strongest in Asia and Latin America, with India and China emerging as the company’s largest and most engaged markets.</a:t>
            </a:r>
          </a:p>
          <a:p>
            <a:pPr marL="0" lvl="0" indent="0">
              <a:lnSpc>
                <a:spcPct val="100000"/>
              </a:lnSpc>
              <a:buNone/>
            </a:pPr>
            <a:r>
              <a:rPr lang="en-US" sz="1800" b="1" dirty="0">
                <a:latin typeface="Calibri" panose="020F0502020204030204" pitchFamily="34" charset="0"/>
                <a:ea typeface="Calibri" panose="020F0502020204030204" pitchFamily="34" charset="0"/>
                <a:cs typeface="Calibri" panose="020F0502020204030204" pitchFamily="34" charset="0"/>
              </a:rPr>
              <a:t>3. Regional Sales Variation: </a:t>
            </a:r>
            <a:r>
              <a:rPr lang="en-US" sz="1800" dirty="0">
                <a:latin typeface="Calibri" panose="020F0502020204030204" pitchFamily="34" charset="0"/>
                <a:ea typeface="Calibri" panose="020F0502020204030204" pitchFamily="34" charset="0"/>
                <a:cs typeface="Calibri" panose="020F0502020204030204" pitchFamily="34" charset="0"/>
              </a:rPr>
              <a:t>Revenue performance varies significantly by region. Asia leads with the highest earnings, driven by strong results in India, China, and Japan. North America also performs well, particularly in the U.S. and Mexico. However, European countries lag behind, contributing less to overall revenue.</a:t>
            </a:r>
          </a:p>
          <a:p>
            <a:pPr marL="0" lvl="0" indent="0">
              <a:lnSpc>
                <a:spcPct val="100000"/>
              </a:lnSpc>
              <a:buNone/>
            </a:pPr>
            <a:r>
              <a:rPr lang="en-US" sz="1800" b="1" dirty="0">
                <a:latin typeface="Calibri" panose="020F0502020204030204" pitchFamily="34" charset="0"/>
                <a:ea typeface="Calibri" panose="020F0502020204030204" pitchFamily="34" charset="0"/>
                <a:cs typeface="Calibri" panose="020F0502020204030204" pitchFamily="34" charset="0"/>
              </a:rPr>
              <a:t>4. High Lifetime Value (LTV) Customers: </a:t>
            </a:r>
            <a:r>
              <a:rPr lang="en-US" sz="1800" dirty="0">
                <a:latin typeface="Calibri" panose="020F0502020204030204" pitchFamily="34" charset="0"/>
                <a:ea typeface="Calibri" panose="020F0502020204030204" pitchFamily="34" charset="0"/>
                <a:cs typeface="Calibri" panose="020F0502020204030204" pitchFamily="34" charset="0"/>
              </a:rPr>
              <a:t>Regions such as Réunion, the U.S., Brazil, and the Netherlands demonstrate strong customer engagement and consistently high spending per user, indicating a concentration of high lifetime value customers</a:t>
            </a:r>
          </a:p>
          <a:p>
            <a:pPr marL="0" indent="0">
              <a:buNone/>
            </a:pPr>
            <a:endParaRPr lang="en-US" dirty="0"/>
          </a:p>
        </p:txBody>
      </p:sp>
    </p:spTree>
    <p:extLst>
      <p:ext uri="{BB962C8B-B14F-4D97-AF65-F5344CB8AC3E}">
        <p14:creationId xmlns:p14="http://schemas.microsoft.com/office/powerpoint/2010/main" val="339652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4DF5-2E4E-FB34-299F-8D8A4E28A761}"/>
              </a:ext>
            </a:extLst>
          </p:cNvPr>
          <p:cNvSpPr>
            <a:spLocks noGrp="1"/>
          </p:cNvSpPr>
          <p:nvPr>
            <p:ph type="title"/>
          </p:nvPr>
        </p:nvSpPr>
        <p:spPr>
          <a:xfrm>
            <a:off x="838200" y="365125"/>
            <a:ext cx="5875638" cy="746983"/>
          </a:xfrm>
        </p:spPr>
        <p:txBody>
          <a:bodyPr/>
          <a:lstStyle/>
          <a:p>
            <a:r>
              <a:rPr lang="en-US" b="1" dirty="0">
                <a:solidFill>
                  <a:schemeClr val="accent1"/>
                </a:solidFill>
              </a:rPr>
              <a:t>RECOMMENDATIONS</a:t>
            </a:r>
          </a:p>
        </p:txBody>
      </p:sp>
      <p:sp>
        <p:nvSpPr>
          <p:cNvPr id="3" name="Content Placeholder 2">
            <a:extLst>
              <a:ext uri="{FF2B5EF4-FFF2-40B4-BE49-F238E27FC236}">
                <a16:creationId xmlns:a16="http://schemas.microsoft.com/office/drawing/2014/main" id="{F75CFD8D-26CF-D797-EDD5-84108956C815}"/>
              </a:ext>
            </a:extLst>
          </p:cNvPr>
          <p:cNvSpPr>
            <a:spLocks noGrp="1"/>
          </p:cNvSpPr>
          <p:nvPr>
            <p:ph idx="1"/>
          </p:nvPr>
        </p:nvSpPr>
        <p:spPr>
          <a:xfrm>
            <a:off x="838200" y="1301577"/>
            <a:ext cx="10515600" cy="5191297"/>
          </a:xfrm>
        </p:spPr>
        <p:txBody>
          <a:bodyPr>
            <a:normAutofit lnSpcReduction="10000"/>
          </a:bodyPr>
          <a:lstStyle/>
          <a:p>
            <a:pPr marL="0" indent="0">
              <a:buNone/>
            </a:pPr>
            <a:r>
              <a:rPr lang="en-US" sz="1600" b="1" dirty="0">
                <a:ea typeface="Calibri" panose="020F0502020204030204" pitchFamily="34" charset="0"/>
                <a:cs typeface="Calibri" panose="020F0502020204030204" pitchFamily="34" charset="0"/>
              </a:rPr>
              <a:t>Content Strategy                                                                                                                                                                                                          </a:t>
            </a:r>
            <a:r>
              <a:rPr lang="en-US" sz="1600" dirty="0">
                <a:ea typeface="Calibri" panose="020F0502020204030204" pitchFamily="34" charset="0"/>
                <a:cs typeface="Calibri" panose="020F0502020204030204" pitchFamily="34" charset="0"/>
              </a:rPr>
              <a:t>Focus on prioritizing PG-13 and Sports-themed content for the initial streaming rollout. Meanwhile, underperforming titles should be gradually phased out or repackaged to better align with audience preferences.</a:t>
            </a:r>
          </a:p>
          <a:p>
            <a:pPr marL="0" indent="0">
              <a:buNone/>
            </a:pPr>
            <a:endParaRPr lang="en-US" sz="1600" dirty="0">
              <a:ea typeface="Calibri" panose="020F0502020204030204" pitchFamily="34" charset="0"/>
              <a:cs typeface="Calibri" panose="020F0502020204030204" pitchFamily="34" charset="0"/>
            </a:endParaRPr>
          </a:p>
          <a:p>
            <a:pPr marL="0" indent="0">
              <a:buNone/>
            </a:pPr>
            <a:r>
              <a:rPr lang="en-US" sz="1600" b="1" dirty="0">
                <a:ea typeface="Calibri" panose="020F0502020204030204" pitchFamily="34" charset="0"/>
                <a:cs typeface="Calibri" panose="020F0502020204030204" pitchFamily="34" charset="0"/>
              </a:rPr>
              <a:t>Regional Marketing                                                                                                                                                                                                         </a:t>
            </a:r>
          </a:p>
          <a:p>
            <a:r>
              <a:rPr lang="en-US" sz="1600" dirty="0">
                <a:ea typeface="Calibri" panose="020F0502020204030204" pitchFamily="34" charset="0"/>
                <a:cs typeface="Calibri" panose="020F0502020204030204" pitchFamily="34" charset="0"/>
              </a:rPr>
              <a:t>India, China, the U.S., and Japan emerge as key markets for launching the streaming platform, driven by their high revenue potential. Mexico, Brazil, and Russia also show strong growth opportunities and stand to gain from focused promotional efforts. As a result, an aggressive digital launch strategy should be targeted toward Asia and Latin America to maximize market penetration and engagement.</a:t>
            </a:r>
          </a:p>
          <a:p>
            <a:r>
              <a:rPr lang="en-US" sz="1600" dirty="0">
                <a:ea typeface="Calibri" panose="020F0502020204030204" pitchFamily="34" charset="0"/>
                <a:cs typeface="Calibri" panose="020F0502020204030204" pitchFamily="34" charset="0"/>
              </a:rPr>
              <a:t>The Philippines, Turkey, and Indonesia offer promising opportunities as emerging markets. Adopt low-cost pricing models to boost sales and profitability.</a:t>
            </a:r>
          </a:p>
          <a:p>
            <a:r>
              <a:rPr lang="en-US" sz="1600" dirty="0">
                <a:ea typeface="Calibri" panose="020F0502020204030204" pitchFamily="34" charset="0"/>
                <a:cs typeface="Calibri" panose="020F0502020204030204" pitchFamily="34" charset="0"/>
              </a:rPr>
              <a:t>Customize marketing per region using localized content and cultural preferences.</a:t>
            </a:r>
          </a:p>
          <a:p>
            <a:pPr marL="0" indent="0">
              <a:buNone/>
            </a:pPr>
            <a:endParaRPr lang="en-US" sz="1600" dirty="0">
              <a:ea typeface="Calibri" panose="020F0502020204030204" pitchFamily="34" charset="0"/>
              <a:cs typeface="Calibri" panose="020F0502020204030204" pitchFamily="34" charset="0"/>
            </a:endParaRPr>
          </a:p>
          <a:p>
            <a:pPr marL="0" indent="0">
              <a:buNone/>
            </a:pPr>
            <a:r>
              <a:rPr lang="en-US" sz="1600" b="1" dirty="0">
                <a:ea typeface="Calibri" panose="020F0502020204030204" pitchFamily="34" charset="0"/>
                <a:cs typeface="Calibri" panose="020F0502020204030204" pitchFamily="34" charset="0"/>
              </a:rPr>
              <a:t>Customer Retention</a:t>
            </a:r>
            <a:br>
              <a:rPr lang="en-US" sz="1600" dirty="0">
                <a:ea typeface="Calibri" panose="020F0502020204030204" pitchFamily="34" charset="0"/>
                <a:cs typeface="Calibri" panose="020F0502020204030204" pitchFamily="34" charset="0"/>
              </a:rPr>
            </a:br>
            <a:r>
              <a:rPr lang="en-US" sz="1600" dirty="0">
                <a:ea typeface="Calibri" panose="020F0502020204030204" pitchFamily="34" charset="0"/>
                <a:cs typeface="Calibri" panose="020F0502020204030204" pitchFamily="34" charset="0"/>
              </a:rPr>
              <a:t>Strengthen engagement with high lifetime value customers by implementing loyalty programs, offering premium subscription tiers, and delivering personalized content recommendations tailored to their preferences.</a:t>
            </a:r>
          </a:p>
          <a:p>
            <a:pPr marL="0" indent="0">
              <a:buNone/>
            </a:pPr>
            <a:endParaRPr lang="en-US" sz="1600" dirty="0">
              <a:ea typeface="Calibri" panose="020F0502020204030204" pitchFamily="34" charset="0"/>
              <a:cs typeface="Calibri" panose="020F0502020204030204" pitchFamily="34" charset="0"/>
            </a:endParaRPr>
          </a:p>
          <a:p>
            <a:pPr marL="0" indent="0">
              <a:buNone/>
            </a:pPr>
            <a:r>
              <a:rPr lang="en-US" sz="1600" b="1" dirty="0">
                <a:ea typeface="Calibri" panose="020F0502020204030204" pitchFamily="34" charset="0"/>
                <a:cs typeface="Calibri" panose="020F0502020204030204" pitchFamily="34" charset="0"/>
              </a:rPr>
              <a:t>Budget Transition                                                                                                                                                                                                            </a:t>
            </a:r>
            <a:r>
              <a:rPr lang="en-US" sz="1600" dirty="0">
                <a:ea typeface="Calibri" panose="020F0502020204030204" pitchFamily="34" charset="0"/>
                <a:cs typeface="Calibri" panose="020F0502020204030204" pitchFamily="34" charset="0"/>
              </a:rPr>
              <a:t>Reallocate budget away from physical stores with fewer customers and toward digital infrastructure </a:t>
            </a:r>
          </a:p>
          <a:p>
            <a:pPr marL="0" indent="0">
              <a:buNone/>
            </a:pPr>
            <a:endParaRPr lang="en-US" sz="1600" dirty="0"/>
          </a:p>
          <a:p>
            <a:pPr marL="0" indent="0">
              <a:buNone/>
            </a:pPr>
            <a:endParaRPr lang="en-US" sz="1600" dirty="0"/>
          </a:p>
          <a:p>
            <a:pPr marL="0" indent="0">
              <a:buNone/>
            </a:pPr>
            <a:endParaRPr lang="en-US" sz="1600" dirty="0"/>
          </a:p>
          <a:p>
            <a:endParaRPr lang="en-US" sz="1600" dirty="0"/>
          </a:p>
          <a:p>
            <a:pPr marL="0" indent="0">
              <a:buNone/>
            </a:pPr>
            <a:endParaRPr lang="en-US" sz="1600" dirty="0"/>
          </a:p>
        </p:txBody>
      </p:sp>
    </p:spTree>
    <p:extLst>
      <p:ext uri="{BB962C8B-B14F-4D97-AF65-F5344CB8AC3E}">
        <p14:creationId xmlns:p14="http://schemas.microsoft.com/office/powerpoint/2010/main" val="610860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C785C6-AA52-0441-310D-2897F6BF1CE4}"/>
              </a:ext>
            </a:extLst>
          </p:cNvPr>
          <p:cNvSpPr>
            <a:spLocks noGrp="1"/>
          </p:cNvSpPr>
          <p:nvPr>
            <p:ph idx="1"/>
          </p:nvPr>
        </p:nvSpPr>
        <p:spPr>
          <a:xfrm>
            <a:off x="1365422" y="2506662"/>
            <a:ext cx="10515600" cy="4351338"/>
          </a:xfrm>
        </p:spPr>
        <p:txBody>
          <a:bodyPr>
            <a:normAutofit/>
          </a:bodyPr>
          <a:lstStyle/>
          <a:p>
            <a:pPr marL="0" indent="0">
              <a:buNone/>
            </a:pPr>
            <a:r>
              <a:rPr lang="en-US" sz="7200" dirty="0"/>
              <a:t>	  </a:t>
            </a:r>
            <a:r>
              <a:rPr lang="en-US" sz="6000" b="1" dirty="0">
                <a:solidFill>
                  <a:schemeClr val="accent1"/>
                </a:solidFill>
                <a:latin typeface="Calibri" panose="020F0502020204030204" pitchFamily="34" charset="0"/>
                <a:ea typeface="Calibri" panose="020F0502020204030204" pitchFamily="34" charset="0"/>
                <a:cs typeface="Calibri" panose="020F0502020204030204" pitchFamily="34" charset="0"/>
              </a:rPr>
              <a:t>THANK YOU</a:t>
            </a:r>
            <a:r>
              <a:rPr lang="en-US" sz="7200" b="1"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B388D49A-C554-5C92-1C5B-6DD661A4B95A}"/>
              </a:ext>
            </a:extLst>
          </p:cNvPr>
          <p:cNvSpPr txBox="1"/>
          <p:nvPr/>
        </p:nvSpPr>
        <p:spPr>
          <a:xfrm>
            <a:off x="385011" y="649251"/>
            <a:ext cx="9601199" cy="646331"/>
          </a:xfrm>
          <a:prstGeom prst="rect">
            <a:avLst/>
          </a:prstGeom>
          <a:noFill/>
        </p:spPr>
        <p:txBody>
          <a:bodyPr wrap="square">
            <a:spAutoFit/>
          </a:bodyPr>
          <a:lstStyle/>
          <a:p>
            <a:r>
              <a:rPr lang="en-US" dirty="0"/>
              <a:t>Thank you and </a:t>
            </a:r>
            <a:r>
              <a:rPr lang="en-US" dirty="0" err="1"/>
              <a:t>i</a:t>
            </a:r>
            <a:r>
              <a:rPr lang="en-US" dirty="0"/>
              <a:t> am happy to take any questions or discuss insights regarding any aspect of this presentation.</a:t>
            </a:r>
          </a:p>
        </p:txBody>
      </p:sp>
    </p:spTree>
    <p:extLst>
      <p:ext uri="{BB962C8B-B14F-4D97-AF65-F5344CB8AC3E}">
        <p14:creationId xmlns:p14="http://schemas.microsoft.com/office/powerpoint/2010/main" val="304439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3149</TotalTime>
  <Words>1351</Words>
  <Application>Microsoft Office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Rockbuster Stealth Data Analysis project.</vt:lpstr>
      <vt:lpstr>Objectives:</vt:lpstr>
      <vt:lpstr>Data Overview </vt:lpstr>
      <vt:lpstr>Key Questions:</vt:lpstr>
      <vt:lpstr>Revenue Gain Per Movie</vt:lpstr>
      <vt:lpstr>Revenue Gain Per Movie</vt:lpstr>
      <vt:lpstr>Revenue by rating and genre</vt:lpstr>
      <vt:lpstr>DESCRIPTIVE STATISTIC </vt:lpstr>
      <vt:lpstr>Top 10 countries where Rockbuster has the most customers.</vt:lpstr>
      <vt:lpstr>Do sales figures vary between geographic regions?</vt:lpstr>
      <vt:lpstr>Where are customers with a high lifetime value based?    </vt:lpstr>
      <vt:lpstr>KEY INSIGHT</vt:lpstr>
      <vt:lpstr>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Oluwole Oni</dc:creator>
  <cp:lastModifiedBy>Oluwole Oni</cp:lastModifiedBy>
  <cp:revision>16</cp:revision>
  <dcterms:created xsi:type="dcterms:W3CDTF">2025-08-05T01:10:15Z</dcterms:created>
  <dcterms:modified xsi:type="dcterms:W3CDTF">2025-08-12T00:36:38Z</dcterms:modified>
</cp:coreProperties>
</file>